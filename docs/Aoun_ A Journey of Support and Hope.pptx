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0736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143500" y="1255933"/>
            <a:ext cx="2374048" cy="5890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35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Aoun </a:t>
            </a:r>
            <a:r>
              <a:rPr lang="en-US" sz="3300" b="1" dirty="0">
                <a:solidFill>
                  <a:srgbClr val="63B3ED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(عون)</a:t>
            </a:r>
            <a:endParaRPr lang="en-US" sz="4350" dirty="0">
              <a:latin typeface=" Times New Roman"/>
            </a:endParaRPr>
          </a:p>
        </p:txBody>
      </p:sp>
      <p:sp>
        <p:nvSpPr>
          <p:cNvPr id="5" name="Text 1"/>
          <p:cNvSpPr/>
          <p:nvPr/>
        </p:nvSpPr>
        <p:spPr>
          <a:xfrm>
            <a:off x="5136968" y="2051756"/>
            <a:ext cx="3549831" cy="1024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600" dirty="0">
                <a:solidFill>
                  <a:srgbClr val="4A4A4A"/>
                </a:solidFill>
                <a:latin typeface=" Times New Roman"/>
                <a:ea typeface="Calibri" pitchFamily="34" charset="-122"/>
                <a:cs typeface="Calibri" pitchFamily="34" charset="-120"/>
              </a:rPr>
              <a:t>Intelligent Cancer Patient</a:t>
            </a:r>
            <a:r>
              <a:rPr lang="en-US" sz="1600" dirty="0">
                <a:latin typeface=" Times New Roman"/>
              </a:rPr>
              <a:t> </a:t>
            </a:r>
            <a:r>
              <a:rPr lang="en-US" sz="1600" dirty="0">
                <a:solidFill>
                  <a:srgbClr val="4A4A4A"/>
                </a:solidFill>
                <a:latin typeface=" Times New Roman"/>
                <a:ea typeface="Calibri" pitchFamily="34" charset="-122"/>
                <a:cs typeface="Calibri" pitchFamily="34" charset="-120"/>
              </a:rPr>
              <a:t>Monitoring System</a:t>
            </a:r>
          </a:p>
          <a:p>
            <a:endParaRPr lang="en-US" sz="1700" dirty="0">
              <a:solidFill>
                <a:srgbClr val="4A5568"/>
              </a:solidFill>
              <a:latin typeface=" Times New Roman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“Support for Every Step of the Journey”</a:t>
            </a:r>
            <a:endParaRPr lang="en-US" sz="1700" dirty="0">
              <a:latin typeface=" Times New Roman"/>
            </a:endParaRPr>
          </a:p>
        </p:txBody>
      </p:sp>
      <p:sp>
        <p:nvSpPr>
          <p:cNvPr id="6" name="Text 2"/>
          <p:cNvSpPr/>
          <p:nvPr/>
        </p:nvSpPr>
        <p:spPr>
          <a:xfrm>
            <a:off x="4967151" y="3511019"/>
            <a:ext cx="3429000" cy="17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Mohammad Thaher</a:t>
            </a:r>
            <a:endParaRPr lang="en-US" sz="950" dirty="0">
              <a:latin typeface=" Times New Roman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F021D32-F644-731B-6E5E-68B9AB14EB03}"/>
              </a:ext>
            </a:extLst>
          </p:cNvPr>
          <p:cNvSpPr/>
          <p:nvPr/>
        </p:nvSpPr>
        <p:spPr>
          <a:xfrm>
            <a:off x="5264331" y="3277221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B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The Silent Struggle: Life Between Visits</a:t>
            </a:r>
            <a:endParaRPr lang="en-US" sz="2450" dirty="0">
              <a:latin typeface=" Times New Roman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328738"/>
            <a:ext cx="257175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1563" y="1443038"/>
            <a:ext cx="32146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Beyond the Clinic</a:t>
            </a:r>
            <a:endParaRPr lang="en-US" sz="1200" dirty="0">
              <a:latin typeface=" Times New Roman"/>
            </a:endParaRPr>
          </a:p>
        </p:txBody>
      </p:sp>
      <p:sp>
        <p:nvSpPr>
          <p:cNvPr id="6" name="Text 2"/>
          <p:cNvSpPr/>
          <p:nvPr/>
        </p:nvSpPr>
        <p:spPr>
          <a:xfrm>
            <a:off x="1071563" y="1778794"/>
            <a:ext cx="3214688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Patients face their hardest moments at home, often alone and unmonitored between visits.</a:t>
            </a:r>
            <a:endParaRPr lang="en-US" sz="950" dirty="0">
              <a:latin typeface=" Times New Roman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661717"/>
            <a:ext cx="28575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1563" y="2776017"/>
            <a:ext cx="32146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The Weight of Uncertainty</a:t>
            </a:r>
            <a:endParaRPr lang="en-US" sz="1200" dirty="0">
              <a:latin typeface=" Times New Roman"/>
            </a:endParaRPr>
          </a:p>
        </p:txBody>
      </p:sp>
      <p:sp>
        <p:nvSpPr>
          <p:cNvPr id="9" name="Text 4"/>
          <p:cNvSpPr/>
          <p:nvPr/>
        </p:nvSpPr>
        <p:spPr>
          <a:xfrm>
            <a:off x="1071563" y="3111773"/>
            <a:ext cx="3214688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Every new symptom brings fear is it a side effect or a sign of deterioration?</a:t>
            </a:r>
            <a:endParaRPr lang="en-US" sz="950" dirty="0">
              <a:latin typeface=" Times New Roman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94696"/>
            <a:ext cx="28575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71563" y="4108996"/>
            <a:ext cx="32146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Disconnected Care</a:t>
            </a:r>
            <a:endParaRPr lang="en-US" sz="1200" dirty="0">
              <a:latin typeface=" Times New Roman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071563" y="4444752"/>
            <a:ext cx="3214688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Vital health changes often go unnoticed until the next scheduled appointment.</a:t>
            </a:r>
            <a:endParaRPr lang="en-US" sz="950" dirty="0">
              <a:latin typeface=" Times New Roman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4857750" y="1271588"/>
            <a:ext cx="3714750" cy="3713187"/>
          </a:xfrm>
          <a:prstGeom prst="rect">
            <a:avLst/>
          </a:prstGeom>
          <a:solidFill>
            <a:srgbClr val="F6AD55">
              <a:alpha val="5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143500" y="2568680"/>
            <a:ext cx="3143250" cy="86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"Cancer management happens every day, not just during clinic hours."</a:t>
            </a:r>
            <a:endParaRPr lang="en-US" sz="1700" dirty="0">
              <a:latin typeface=" Times New Roman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321201" y="3743046"/>
            <a:ext cx="2787848" cy="15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8096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OVER 19 MILLION STORIES EVERY YEAR</a:t>
            </a:r>
            <a:endParaRPr lang="en-US" sz="1000" dirty="0">
              <a:latin typeface=" 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Aoun: Your Companion in the Dark</a:t>
            </a:r>
            <a:endParaRPr lang="en-US" sz="2450" dirty="0">
              <a:latin typeface=" Times New Roman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035844" y="1414463"/>
            <a:ext cx="857250" cy="857250"/>
          </a:xfrm>
          <a:prstGeom prst="ellipse">
            <a:avLst/>
          </a:prstGeom>
          <a:solidFill>
            <a:srgbClr val="63B3ED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1588" y="1671638"/>
            <a:ext cx="385763" cy="3429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7959" y="2657475"/>
            <a:ext cx="1293019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Aoun (Support)</a:t>
            </a:r>
            <a:endParaRPr lang="en-US" sz="1200" dirty="0">
              <a:latin typeface=" Times New Roman"/>
            </a:endParaRPr>
          </a:p>
        </p:txBody>
      </p:sp>
      <p:sp>
        <p:nvSpPr>
          <p:cNvPr id="7" name="Text 3"/>
          <p:cNvSpPr/>
          <p:nvPr/>
        </p:nvSpPr>
        <p:spPr>
          <a:xfrm>
            <a:off x="571500" y="3086100"/>
            <a:ext cx="1785938" cy="303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More than an app a digital hand to hold through the toughest times.</a:t>
            </a:r>
            <a:endParaRPr lang="en-US" sz="850" dirty="0">
              <a:latin typeface=" Times New Roman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107531" y="1414463"/>
            <a:ext cx="857250" cy="857250"/>
          </a:xfrm>
          <a:prstGeom prst="ellipse">
            <a:avLst/>
          </a:prstGeom>
          <a:solidFill>
            <a:srgbClr val="63B3ED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3275" y="1671638"/>
            <a:ext cx="385763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43188" y="2657475"/>
            <a:ext cx="178593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 Continuous Presence</a:t>
            </a:r>
            <a:endParaRPr lang="en-US" sz="1200" dirty="0">
              <a:latin typeface=" Times New Roman"/>
            </a:endParaRPr>
          </a:p>
        </p:txBody>
      </p:sp>
      <p:sp>
        <p:nvSpPr>
          <p:cNvPr id="11" name="Text 6"/>
          <p:cNvSpPr/>
          <p:nvPr/>
        </p:nvSpPr>
        <p:spPr>
          <a:xfrm>
            <a:off x="2635839" y="3087529"/>
            <a:ext cx="1785938" cy="303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A 24/7 link ensuring you're never truly alone between clinic visits.</a:t>
            </a:r>
            <a:endParaRPr lang="en-US" sz="850" dirty="0">
              <a:latin typeface=" Times New Roman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5179219" y="1414463"/>
            <a:ext cx="857250" cy="857250"/>
          </a:xfrm>
          <a:prstGeom prst="ellipse">
            <a:avLst/>
          </a:prstGeom>
          <a:solidFill>
            <a:srgbClr val="63B3ED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sp>
        <p:nvSpPr>
          <p:cNvPr id="13" name="Text 8"/>
          <p:cNvSpPr/>
          <p:nvPr/>
        </p:nvSpPr>
        <p:spPr>
          <a:xfrm>
            <a:off x="5109309" y="2657475"/>
            <a:ext cx="997069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Locally Rooted</a:t>
            </a:r>
            <a:endParaRPr lang="en-US" sz="1200" dirty="0">
              <a:latin typeface=" Times New Roman"/>
            </a:endParaRPr>
          </a:p>
        </p:txBody>
      </p:sp>
      <p:sp>
        <p:nvSpPr>
          <p:cNvPr id="14" name="Text 9"/>
          <p:cNvSpPr/>
          <p:nvPr/>
        </p:nvSpPr>
        <p:spPr>
          <a:xfrm>
            <a:off x="4714875" y="3086100"/>
            <a:ext cx="1785938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A private sanctuary for your health data, keeping personal moments personal.</a:t>
            </a:r>
            <a:endParaRPr lang="en-US" sz="850" dirty="0">
              <a:latin typeface=" Times New Roman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7250906" y="1414463"/>
            <a:ext cx="857250" cy="857250"/>
          </a:xfrm>
          <a:prstGeom prst="ellipse">
            <a:avLst/>
          </a:prstGeom>
          <a:solidFill>
            <a:srgbClr val="63B3ED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0944" y="1671638"/>
            <a:ext cx="257175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192218" y="2657475"/>
            <a:ext cx="974627" cy="1846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Empowerment</a:t>
            </a:r>
            <a:endParaRPr lang="en-US" sz="1200" dirty="0">
              <a:latin typeface=" Times New Roman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786563" y="3086100"/>
            <a:ext cx="1785938" cy="303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Turning fear into knowledge through continuous, AI-driven monitoring.</a:t>
            </a:r>
            <a:endParaRPr lang="en-US" sz="850" dirty="0">
              <a:latin typeface=" Times New Roman"/>
            </a:endParaRPr>
          </a:p>
        </p:txBody>
      </p:sp>
      <p:sp>
        <p:nvSpPr>
          <p:cNvPr id="19" name="Text 13"/>
          <p:cNvSpPr/>
          <p:nvPr/>
        </p:nvSpPr>
        <p:spPr>
          <a:xfrm>
            <a:off x="0" y="4493419"/>
            <a:ext cx="914400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6AD55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"Because support should never have a closing hour."</a:t>
            </a:r>
            <a:endParaRPr lang="en-US" sz="1400" dirty="0">
              <a:latin typeface=" Times New Roman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75450" y="1556891"/>
            <a:ext cx="464818" cy="46481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The Patient Experience Pipeline</a:t>
            </a:r>
            <a:endParaRPr lang="en-US" sz="2450" dirty="0">
              <a:latin typeface=" Times New Roman"/>
            </a:endParaRPr>
          </a:p>
        </p:txBody>
      </p:sp>
      <p:sp>
        <p:nvSpPr>
          <p:cNvPr id="4" name="Shape 1"/>
          <p:cNvSpPr/>
          <p:nvPr/>
        </p:nvSpPr>
        <p:spPr>
          <a:xfrm>
            <a:off x="1285875" y="1557338"/>
            <a:ext cx="857250" cy="857250"/>
          </a:xfrm>
          <a:prstGeom prst="ellipse">
            <a:avLst/>
          </a:prstGeom>
          <a:solidFill>
            <a:srgbClr val="63B3ED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1619" y="1793081"/>
            <a:ext cx="385763" cy="3857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6522" y="2628900"/>
            <a:ext cx="1935956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 Simple Daily Ritual</a:t>
            </a:r>
            <a:endParaRPr lang="en-US" sz="1300" dirty="0">
              <a:latin typeface=" Times New Roman"/>
            </a:endParaRPr>
          </a:p>
        </p:txBody>
      </p:sp>
      <p:sp>
        <p:nvSpPr>
          <p:cNvPr id="7" name="Text 3"/>
          <p:cNvSpPr/>
          <p:nvPr/>
        </p:nvSpPr>
        <p:spPr>
          <a:xfrm>
            <a:off x="571500" y="2996803"/>
            <a:ext cx="2286000" cy="35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Logging symptoms and taking a wellness selfie becomes a moment of mindful self-care.</a:t>
            </a:r>
            <a:endParaRPr lang="en-US" sz="950" dirty="0">
              <a:latin typeface=" Times New Roman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1813" y="1935956"/>
            <a:ext cx="142875" cy="2286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143375" y="1557338"/>
            <a:ext cx="857250" cy="857250"/>
          </a:xfrm>
          <a:prstGeom prst="ellipse">
            <a:avLst/>
          </a:prstGeom>
          <a:solidFill>
            <a:srgbClr val="63B3ED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sp>
        <p:nvSpPr>
          <p:cNvPr id="10" name="Text 5"/>
          <p:cNvSpPr/>
          <p:nvPr/>
        </p:nvSpPr>
        <p:spPr>
          <a:xfrm>
            <a:off x="3602236" y="2628900"/>
            <a:ext cx="1939528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Invisible Intelligence</a:t>
            </a:r>
            <a:endParaRPr lang="en-US" sz="1300" dirty="0">
              <a:latin typeface=" Times New Roman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429000" y="2996803"/>
            <a:ext cx="2286000" cy="35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Sophisticated AI works quietly in the background to analyze risk and facial wellness.</a:t>
            </a:r>
            <a:endParaRPr lang="en-US" sz="950" dirty="0">
              <a:latin typeface=" Times New Roman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313" y="1935956"/>
            <a:ext cx="142875" cy="22860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000875" y="1557338"/>
            <a:ext cx="857250" cy="857250"/>
          </a:xfrm>
          <a:prstGeom prst="ellipse">
            <a:avLst/>
          </a:prstGeom>
          <a:solidFill>
            <a:srgbClr val="63B3ED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6619" y="1793081"/>
            <a:ext cx="385763" cy="38576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86500" y="2628900"/>
            <a:ext cx="2286000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Immediate Peace of Mind</a:t>
            </a:r>
            <a:endParaRPr lang="en-US" sz="1300" dirty="0">
              <a:latin typeface=" Times New Roman"/>
            </a:endParaRPr>
          </a:p>
        </p:txBody>
      </p:sp>
      <p:sp>
        <p:nvSpPr>
          <p:cNvPr id="16" name="Text 9"/>
          <p:cNvSpPr/>
          <p:nvPr/>
        </p:nvSpPr>
        <p:spPr>
          <a:xfrm>
            <a:off x="6286500" y="3221831"/>
            <a:ext cx="2286000" cy="35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Instant feedback and direct alerts to doctors when support is needed most.</a:t>
            </a:r>
            <a:endParaRPr lang="en-US" sz="950" dirty="0">
              <a:latin typeface=" Times New Roman"/>
            </a:endParaRPr>
          </a:p>
        </p:txBody>
      </p:sp>
      <p:sp>
        <p:nvSpPr>
          <p:cNvPr id="17" name="Text 10"/>
          <p:cNvSpPr/>
          <p:nvPr/>
        </p:nvSpPr>
        <p:spPr>
          <a:xfrm>
            <a:off x="571500" y="4567647"/>
            <a:ext cx="8001000" cy="434606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"Bridging the gap between technology and a doctor's timely intervention."</a:t>
            </a:r>
            <a:endParaRPr lang="en-US" sz="1150" dirty="0">
              <a:latin typeface=" Times New Roman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1766" y="1739030"/>
            <a:ext cx="508211" cy="5082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Watching Over You: The ML Risk Engine</a:t>
            </a:r>
            <a:endParaRPr lang="en-US" sz="2450" dirty="0">
              <a:latin typeface=" Times New Roman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85863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1563" y="1300163"/>
            <a:ext cx="32146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 Guardian in Your Pocket</a:t>
            </a:r>
            <a:endParaRPr lang="en-US" sz="1200" dirty="0">
              <a:latin typeface=" Times New Roman"/>
            </a:endParaRPr>
          </a:p>
        </p:txBody>
      </p:sp>
      <p:sp>
        <p:nvSpPr>
          <p:cNvPr id="6" name="Text 2"/>
          <p:cNvSpPr/>
          <p:nvPr/>
        </p:nvSpPr>
        <p:spPr>
          <a:xfrm>
            <a:off x="1071563" y="1578769"/>
            <a:ext cx="3214688" cy="172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Catching symptom deterioration before it becomes critical.</a:t>
            </a:r>
            <a:endParaRPr lang="en-US" sz="950" dirty="0">
              <a:latin typeface=" Times New Roman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297385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1563" y="2411685"/>
            <a:ext cx="32146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Analyzing the Subtle Changes</a:t>
            </a:r>
            <a:endParaRPr lang="en-US" sz="1200" dirty="0">
              <a:latin typeface=" Times New Roman"/>
            </a:endParaRPr>
          </a:p>
        </p:txBody>
      </p:sp>
      <p:sp>
        <p:nvSpPr>
          <p:cNvPr id="9" name="Text 4"/>
          <p:cNvSpPr/>
          <p:nvPr/>
        </p:nvSpPr>
        <p:spPr>
          <a:xfrm>
            <a:off x="1071563" y="2690292"/>
            <a:ext cx="3214688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Monitoring 23 clinical features to detect patterns that the human eye might miss.</a:t>
            </a:r>
            <a:endParaRPr lang="en-US" sz="950" dirty="0">
              <a:latin typeface=" Times New Roman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08908"/>
            <a:ext cx="200025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71563" y="3523208"/>
            <a:ext cx="32146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Your Doctor is Always Close</a:t>
            </a:r>
            <a:endParaRPr lang="en-US" sz="1200" dirty="0">
              <a:latin typeface=" Times New Roman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071563" y="3801814"/>
            <a:ext cx="3214688" cy="359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Automatic High-risk alerts ensure your oncologist is notified the moment you need them.</a:t>
            </a:r>
            <a:endParaRPr lang="en-US" sz="950" dirty="0">
              <a:latin typeface=" Times New Roman"/>
            </a:endParaRPr>
          </a:p>
        </p:txBody>
      </p:sp>
      <p:sp>
        <p:nvSpPr>
          <p:cNvPr id="13" name="Text 7"/>
          <p:cNvSpPr/>
          <p:nvPr/>
        </p:nvSpPr>
        <p:spPr>
          <a:xfrm>
            <a:off x="4857750" y="2605579"/>
            <a:ext cx="3714750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endParaRPr lang="en-US" sz="850" dirty="0">
              <a:latin typeface=" Times New Roman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0" y="4641875"/>
            <a:ext cx="9144000" cy="394692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0" y="4641875"/>
            <a:ext cx="9144000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sp>
        <p:nvSpPr>
          <p:cNvPr id="16" name="Text 10"/>
          <p:cNvSpPr/>
          <p:nvPr/>
        </p:nvSpPr>
        <p:spPr>
          <a:xfrm>
            <a:off x="0" y="4641875"/>
            <a:ext cx="9144000" cy="419217"/>
          </a:xfrm>
          <a:prstGeom prst="rect">
            <a:avLst/>
          </a:prstGeom>
          <a:noFill/>
          <a:ln/>
        </p:spPr>
        <p:txBody>
          <a:bodyPr wrap="square" lIns="680339" tIns="255143" rIns="680339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"Turning 740,000 clinical records into a personalized safety net for every patient."</a:t>
            </a:r>
            <a:endParaRPr lang="en-US" sz="1050" dirty="0">
              <a:latin typeface=" Times New Roman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5222" y="1307306"/>
            <a:ext cx="2694784" cy="2694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The Mirror of Wellness: Facial Analysis</a:t>
            </a:r>
            <a:endParaRPr lang="en-US" sz="2450" dirty="0">
              <a:latin typeface=" Times New Roman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300163"/>
            <a:ext cx="3786188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Seeing Beyond the Surface</a:t>
            </a:r>
            <a:endParaRPr lang="en-US" sz="1200" dirty="0">
              <a:latin typeface=" Times New Roman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693069"/>
            <a:ext cx="3786188" cy="130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Quantifying physiological signs of illness with compassion.</a:t>
            </a:r>
            <a:endParaRPr lang="en-US" sz="850" dirty="0">
              <a:latin typeface=" Times New Roman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16336"/>
            <a:ext cx="3786188" cy="2500313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1176933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14938" y="1285875"/>
            <a:ext cx="33575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Compassionate Tech</a:t>
            </a:r>
            <a:endParaRPr lang="en-US" sz="1100" dirty="0">
              <a:latin typeface=" Times New Roman"/>
            </a:endParaRPr>
          </a:p>
        </p:txBody>
      </p:sp>
      <p:sp>
        <p:nvSpPr>
          <p:cNvPr id="9" name="Text 4"/>
          <p:cNvSpPr/>
          <p:nvPr/>
        </p:nvSpPr>
        <p:spPr>
          <a:xfrm>
            <a:off x="5214938" y="1532334"/>
            <a:ext cx="3357563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No medical hardware needed just a simple daily selfie to track your wellness journey from the comfort of home.</a:t>
            </a:r>
            <a:endParaRPr lang="en-US" sz="850" dirty="0">
              <a:latin typeface=" Times New Roman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2137767"/>
            <a:ext cx="200025" cy="2000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214938" y="2246709"/>
            <a:ext cx="33575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Objective Care</a:t>
            </a:r>
            <a:endParaRPr lang="en-US" sz="1100" dirty="0">
              <a:latin typeface=" Times New Roman"/>
            </a:endParaRPr>
          </a:p>
        </p:txBody>
      </p:sp>
      <p:sp>
        <p:nvSpPr>
          <p:cNvPr id="12" name="Text 6"/>
          <p:cNvSpPr/>
          <p:nvPr/>
        </p:nvSpPr>
        <p:spPr>
          <a:xfrm>
            <a:off x="5214938" y="2493169"/>
            <a:ext cx="3357563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Quantifying pallor and fatigue through OpenCV and LAB color-space analysis to provide a clear, objective picture of your health.</a:t>
            </a:r>
            <a:endParaRPr lang="en-US" sz="850" dirty="0">
              <a:latin typeface=" Times New Roman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6313" y="3270052"/>
            <a:ext cx="225028" cy="20002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214938" y="3378994"/>
            <a:ext cx="3357563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 New Way to Connect</a:t>
            </a:r>
            <a:endParaRPr lang="en-US" sz="1100" dirty="0">
              <a:latin typeface=" Times New Roman"/>
            </a:endParaRPr>
          </a:p>
        </p:txBody>
      </p:sp>
      <p:sp>
        <p:nvSpPr>
          <p:cNvPr id="15" name="Text 8"/>
          <p:cNvSpPr/>
          <p:nvPr/>
        </p:nvSpPr>
        <p:spPr>
          <a:xfrm>
            <a:off x="5214938" y="3625453"/>
            <a:ext cx="3357563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Sharing your wellness journey with your doctor through the lens of empathy, ensuring they see how you truly feel.</a:t>
            </a:r>
            <a:endParaRPr lang="en-US" sz="850" dirty="0">
              <a:latin typeface=" Times New Roman"/>
            </a:endParaRPr>
          </a:p>
        </p:txBody>
      </p:sp>
      <p:sp>
        <p:nvSpPr>
          <p:cNvPr id="16" name="Text 9"/>
          <p:cNvSpPr/>
          <p:nvPr/>
        </p:nvSpPr>
        <p:spPr>
          <a:xfrm>
            <a:off x="4786313" y="4468416"/>
            <a:ext cx="3786188" cy="333296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3B3ED"/>
                </a:solidFill>
                <a:latin typeface=" Times New Roman"/>
                <a:ea typeface="Inter" pitchFamily="34" charset="-122"/>
                <a:cs typeface="Inter" pitchFamily="34" charset="-120"/>
              </a:rPr>
              <a:t>"Technology that understands the human face of illness."</a:t>
            </a:r>
            <a:endParaRPr lang="en-US" sz="1050" dirty="0">
              <a:latin typeface=" 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 Trusted Voice: The RAG Chatbot</a:t>
            </a:r>
            <a:endParaRPr lang="en-US" sz="2450" dirty="0">
              <a:latin typeface=" Times New Roman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499" y="1322598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1563" y="1300163"/>
            <a:ext cx="32861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Always Ready to Listen</a:t>
            </a:r>
            <a:endParaRPr lang="en-US" sz="1200" dirty="0">
              <a:latin typeface=" Times New Roman"/>
            </a:endParaRPr>
          </a:p>
        </p:txBody>
      </p:sp>
      <p:sp>
        <p:nvSpPr>
          <p:cNvPr id="6" name="Text 2"/>
          <p:cNvSpPr/>
          <p:nvPr/>
        </p:nvSpPr>
        <p:spPr>
          <a:xfrm>
            <a:off x="1071563" y="1578769"/>
            <a:ext cx="3286125" cy="35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An intelligent assistant powered by Mistral-7B, available for your late-night questions and concerns.</a:t>
            </a:r>
            <a:endParaRPr lang="en-US" sz="950" dirty="0">
              <a:latin typeface=" Times New Roman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030" y="2343150"/>
            <a:ext cx="228600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71563" y="2375967"/>
            <a:ext cx="32861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Safe and Grounded</a:t>
            </a:r>
            <a:endParaRPr lang="en-US" sz="1200" dirty="0">
              <a:latin typeface=" Times New Roman"/>
            </a:endParaRPr>
          </a:p>
        </p:txBody>
      </p:sp>
      <p:sp>
        <p:nvSpPr>
          <p:cNvPr id="9" name="Text 4"/>
          <p:cNvSpPr/>
          <p:nvPr/>
        </p:nvSpPr>
        <p:spPr>
          <a:xfrm>
            <a:off x="1071563" y="2654573"/>
            <a:ext cx="3286125" cy="35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Answers grounded in NCI/ACS clinical publications and a curated oncology knowledge base</a:t>
            </a:r>
            <a:endParaRPr lang="en-US" sz="950" dirty="0">
              <a:latin typeface=" Times New Roman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401430"/>
            <a:ext cx="28575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71563" y="3451771"/>
            <a:ext cx="3286125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Privacy by Design</a:t>
            </a:r>
            <a:endParaRPr lang="en-US" sz="1200" dirty="0">
              <a:latin typeface=" Times New Roman"/>
            </a:endParaRPr>
          </a:p>
        </p:txBody>
      </p:sp>
      <p:sp>
        <p:nvSpPr>
          <p:cNvPr id="12" name="Text 6"/>
          <p:cNvSpPr/>
          <p:nvPr/>
        </p:nvSpPr>
        <p:spPr>
          <a:xfrm>
            <a:off x="1071563" y="3730377"/>
            <a:ext cx="3286125" cy="35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A local AI that learns from you without ever letting your sensitive data leave your device.</a:t>
            </a:r>
            <a:endParaRPr lang="en-US" sz="950" dirty="0">
              <a:latin typeface=" Times New Roman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4786313" y="1128713"/>
            <a:ext cx="3786188" cy="3013100"/>
          </a:xfrm>
          <a:prstGeom prst="rect">
            <a:avLst/>
          </a:prstGeom>
          <a:solidFill>
            <a:srgbClr val="63B3ED">
              <a:alpha val="5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2219" y="1551198"/>
            <a:ext cx="714375" cy="5715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50656" y="2403091"/>
            <a:ext cx="2857500" cy="441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"It's like having a knowledgeable friend who is always there when you need clarity."</a:t>
            </a:r>
            <a:endParaRPr lang="en-US" sz="1250" dirty="0">
              <a:latin typeface=" Times New Roman"/>
            </a:endParaRPr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3379" y="3630030"/>
            <a:ext cx="135731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603379" y="3617528"/>
            <a:ext cx="2287786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00" b="1" kern="0" spc="1" dirty="0">
                <a:solidFill>
                  <a:srgbClr val="F6AD55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VERIFIED MEDICAL KNOWLEDGE</a:t>
            </a:r>
            <a:endParaRPr lang="en-US" sz="900" dirty="0">
              <a:latin typeface=" 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 Unified Circle of Care</a:t>
            </a:r>
            <a:endParaRPr lang="en-US" sz="2450" dirty="0">
              <a:latin typeface=" Times New Roman"/>
            </a:endParaRPr>
          </a:p>
        </p:txBody>
      </p:sp>
      <p:sp>
        <p:nvSpPr>
          <p:cNvPr id="4" name="Text 1"/>
          <p:cNvSpPr/>
          <p:nvPr/>
        </p:nvSpPr>
        <p:spPr>
          <a:xfrm>
            <a:off x="1144786" y="1843088"/>
            <a:ext cx="1368028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For the Patient</a:t>
            </a:r>
            <a:endParaRPr lang="en-US" sz="1300" dirty="0">
              <a:latin typeface=" Times New Roman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2354" y="2290254"/>
            <a:ext cx="1796967" cy="186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Daily rituals of self-care and logging</a:t>
            </a:r>
            <a:endParaRPr lang="en-US" sz="950" dirty="0">
              <a:latin typeface=" Times New Roman"/>
            </a:endParaRPr>
          </a:p>
        </p:txBody>
      </p:sp>
      <p:sp>
        <p:nvSpPr>
          <p:cNvPr id="6" name="Text 3"/>
          <p:cNvSpPr/>
          <p:nvPr/>
        </p:nvSpPr>
        <p:spPr>
          <a:xfrm>
            <a:off x="842226" y="2575197"/>
            <a:ext cx="1368965" cy="186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Instant emergency guidance</a:t>
            </a:r>
            <a:endParaRPr lang="en-US" sz="950" dirty="0">
              <a:latin typeface=" Times New Roman"/>
            </a:endParaRPr>
          </a:p>
        </p:txBody>
      </p:sp>
      <p:sp>
        <p:nvSpPr>
          <p:cNvPr id="7" name="Text 4"/>
          <p:cNvSpPr/>
          <p:nvPr/>
        </p:nvSpPr>
        <p:spPr>
          <a:xfrm>
            <a:off x="814975" y="2859621"/>
            <a:ext cx="1423467" cy="186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Peace of mind between visits</a:t>
            </a:r>
            <a:endParaRPr lang="en-US" sz="950" dirty="0">
              <a:latin typeface=" Times New Roman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8927" y="1261039"/>
            <a:ext cx="303017" cy="3463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02273" y="1849490"/>
            <a:ext cx="1339453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For the Doctor</a:t>
            </a:r>
            <a:endParaRPr lang="en-US" sz="1300" dirty="0">
              <a:latin typeface=" Times New Roman"/>
            </a:endParaRPr>
          </a:p>
        </p:txBody>
      </p:sp>
      <p:sp>
        <p:nvSpPr>
          <p:cNvPr id="10" name="Text 6"/>
          <p:cNvSpPr/>
          <p:nvPr/>
        </p:nvSpPr>
        <p:spPr>
          <a:xfrm>
            <a:off x="3687637" y="2284390"/>
            <a:ext cx="1705595" cy="186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Triage-sorted view of urgent needs</a:t>
            </a:r>
            <a:endParaRPr lang="en-US" sz="950" dirty="0">
              <a:latin typeface=" Times New Roman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687637" y="2575923"/>
            <a:ext cx="1178208" cy="186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ML prediction feedback</a:t>
            </a:r>
            <a:endParaRPr lang="en-US" sz="950" dirty="0">
              <a:latin typeface=" Times New Roman"/>
            </a:endParaRPr>
          </a:p>
        </p:txBody>
      </p:sp>
      <p:sp>
        <p:nvSpPr>
          <p:cNvPr id="12" name="Text 8"/>
          <p:cNvSpPr/>
          <p:nvPr/>
        </p:nvSpPr>
        <p:spPr>
          <a:xfrm>
            <a:off x="3670003" y="2864061"/>
            <a:ext cx="1740861" cy="186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Real-time alerts for critical changes</a:t>
            </a:r>
            <a:endParaRPr lang="en-US" sz="950" dirty="0">
              <a:latin typeface=" Times New Roman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839364" y="1843088"/>
            <a:ext cx="951671" cy="2000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For the Team</a:t>
            </a:r>
            <a:endParaRPr lang="en-US" sz="1300" dirty="0">
              <a:latin typeface=" Times New Roman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469614" y="2264919"/>
            <a:ext cx="1691169" cy="186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Seamless flow of vital information</a:t>
            </a:r>
            <a:endParaRPr lang="en-US" sz="950" dirty="0">
              <a:latin typeface=" Times New Roman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69614" y="2526711"/>
            <a:ext cx="1554913" cy="186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Closing the loop on patient care</a:t>
            </a:r>
            <a:endParaRPr lang="en-US" sz="950" dirty="0">
              <a:latin typeface=" Times New Roman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6453959" y="2830712"/>
            <a:ext cx="1535677" cy="186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Ensuring no one feels forgotten</a:t>
            </a:r>
            <a:endParaRPr lang="en-US" sz="950" dirty="0">
              <a:latin typeface=" Times New Roman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6475599" y="3109020"/>
            <a:ext cx="1492396" cy="1864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A unified focus on the journey</a:t>
            </a:r>
            <a:endParaRPr lang="en-US" sz="950" dirty="0">
              <a:latin typeface=" Times New Roman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0" y="3794001"/>
            <a:ext cx="9144000" cy="62865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0" y="3794001"/>
            <a:ext cx="9144000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571500" y="4036888"/>
            <a:ext cx="8001000" cy="192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"Ensuring no patient ever feels forgotten between clinic visits."</a:t>
            </a:r>
            <a:endParaRPr lang="en-US" sz="1250" dirty="0">
              <a:latin typeface=" Times New Roman"/>
            </a:endParaRPr>
          </a:p>
        </p:txBody>
      </p:sp>
      <p:pic>
        <p:nvPicPr>
          <p:cNvPr id="21" name="Picture 20" descr="Patient - Free medical icons">
            <a:extLst>
              <a:ext uri="{FF2B5EF4-FFF2-40B4-BE49-F238E27FC236}">
                <a16:creationId xmlns:a16="http://schemas.microsoft.com/office/drawing/2014/main" id="{A6837827-E19C-100B-7154-1A25F77930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6709" y="1234276"/>
            <a:ext cx="468258" cy="468258"/>
          </a:xfrm>
          <a:prstGeom prst="rect">
            <a:avLst/>
          </a:prstGeom>
        </p:spPr>
      </p:pic>
      <p:pic>
        <p:nvPicPr>
          <p:cNvPr id="22" name="Picture 21" descr="Patient care - Free people icons">
            <a:extLst>
              <a:ext uri="{FF2B5EF4-FFF2-40B4-BE49-F238E27FC236}">
                <a16:creationId xmlns:a16="http://schemas.microsoft.com/office/drawing/2014/main" id="{78886224-08CC-FF88-F676-0498D2E636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87000" y="1303377"/>
            <a:ext cx="346307" cy="3463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Validated with Care</a:t>
            </a:r>
            <a:endParaRPr lang="en-US" sz="2450" dirty="0">
              <a:latin typeface=" Times New Roman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500" y="1285875"/>
            <a:ext cx="24003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6AD55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27/28</a:t>
            </a:r>
            <a:endParaRPr lang="en-US" sz="3300" dirty="0">
              <a:latin typeface=" Times New Roman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1910953"/>
            <a:ext cx="2400300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1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REQUIREMENTS MET</a:t>
            </a:r>
            <a:endParaRPr lang="en-US" sz="950" dirty="0">
              <a:latin typeface=" Times New Roman"/>
            </a:endParaRPr>
          </a:p>
        </p:txBody>
      </p:sp>
      <p:sp>
        <p:nvSpPr>
          <p:cNvPr id="6" name="Text 3"/>
          <p:cNvSpPr/>
          <p:nvPr/>
        </p:nvSpPr>
        <p:spPr>
          <a:xfrm>
            <a:off x="3371850" y="1285875"/>
            <a:ext cx="24003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6AD55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&lt;200ms</a:t>
            </a:r>
            <a:endParaRPr lang="en-US" sz="3300" dirty="0">
              <a:latin typeface=" Times New Roman"/>
            </a:endParaRPr>
          </a:p>
        </p:txBody>
      </p:sp>
      <p:sp>
        <p:nvSpPr>
          <p:cNvPr id="7" name="Text 4"/>
          <p:cNvSpPr/>
          <p:nvPr/>
        </p:nvSpPr>
        <p:spPr>
          <a:xfrm>
            <a:off x="3371850" y="1910953"/>
            <a:ext cx="2400300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1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ML RESPONSE TIME</a:t>
            </a:r>
            <a:endParaRPr lang="en-US" sz="950" dirty="0">
              <a:latin typeface=" Times New Roman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72200" y="1285875"/>
            <a:ext cx="2400300" cy="507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6AD55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100%</a:t>
            </a:r>
            <a:endParaRPr lang="en-US" sz="3300" dirty="0">
              <a:latin typeface=" Times New Roman"/>
            </a:endParaRPr>
          </a:p>
        </p:txBody>
      </p:sp>
      <p:sp>
        <p:nvSpPr>
          <p:cNvPr id="9" name="Text 6"/>
          <p:cNvSpPr/>
          <p:nvPr/>
        </p:nvSpPr>
        <p:spPr>
          <a:xfrm>
            <a:off x="6172200" y="1910953"/>
            <a:ext cx="2400300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950" kern="0" spc="1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LOCAL DATA PRIVACY</a:t>
            </a:r>
            <a:endParaRPr lang="en-US" sz="950" dirty="0">
              <a:latin typeface=" Times New Roman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500" y="2484133"/>
            <a:ext cx="1759874" cy="38061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B3ED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VALIDATION PILLAR</a:t>
            </a:r>
            <a:endParaRPr lang="en-US" sz="800" dirty="0">
              <a:latin typeface=" Times New Roman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331374" y="2484133"/>
            <a:ext cx="2272494" cy="38061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B3ED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METHODOLOGY</a:t>
            </a:r>
            <a:endParaRPr lang="en-US" sz="800" dirty="0">
              <a:latin typeface=" Times New Roman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603868" y="2484133"/>
            <a:ext cx="3968632" cy="380617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3B3ED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OUTCOME FOR THE PATIENT</a:t>
            </a:r>
            <a:endParaRPr lang="en-US" sz="800" dirty="0">
              <a:latin typeface=" Times New Roman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500" y="2842281"/>
            <a:ext cx="1759874" cy="4037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 Times New Roman"/>
                <a:ea typeface="Inter" pitchFamily="34" charset="-122"/>
                <a:cs typeface="Inter" pitchFamily="34" charset="-120"/>
              </a:rPr>
              <a:t>Clinical Reliability</a:t>
            </a:r>
            <a:endParaRPr lang="en-US" sz="950" dirty="0">
              <a:latin typeface=" Times New Roman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2331374" y="2842281"/>
            <a:ext cx="2272494" cy="4037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 Times New Roman"/>
                <a:ea typeface="Inter" pitchFamily="34" charset="-122"/>
                <a:cs typeface="Inter" pitchFamily="34" charset="-120"/>
              </a:rPr>
              <a:t>Black Box Testing</a:t>
            </a:r>
            <a:endParaRPr lang="en-US" sz="950" dirty="0">
              <a:latin typeface=" Times New Roman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711024" y="2968228"/>
            <a:ext cx="384721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B3ED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TRUST</a:t>
            </a:r>
            <a:endParaRPr lang="en-US" sz="900" dirty="0">
              <a:latin typeface=" Times New Roman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143221" y="2968228"/>
            <a:ext cx="1907381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 Times New Roman"/>
                <a:ea typeface="Inter" pitchFamily="34" charset="-122"/>
                <a:cs typeface="Inter" pitchFamily="34" charset="-120"/>
              </a:rPr>
              <a:t>— All core care flows validated</a:t>
            </a:r>
            <a:endParaRPr lang="en-US" sz="950" dirty="0">
              <a:latin typeface=" Times New Roman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500" y="3220900"/>
            <a:ext cx="1759874" cy="4037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 Times New Roman"/>
                <a:ea typeface="Inter" pitchFamily="34" charset="-122"/>
                <a:cs typeface="Inter" pitchFamily="34" charset="-120"/>
              </a:rPr>
              <a:t>Speed of Support</a:t>
            </a:r>
            <a:endParaRPr lang="en-US" sz="950" dirty="0">
              <a:latin typeface=" Times New Roman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2331374" y="3220900"/>
            <a:ext cx="2272494" cy="4037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 Times New Roman"/>
                <a:ea typeface="Inter" pitchFamily="34" charset="-122"/>
                <a:cs typeface="Inter" pitchFamily="34" charset="-120"/>
              </a:rPr>
              <a:t>Local Inference</a:t>
            </a:r>
            <a:endParaRPr lang="en-US" sz="950" dirty="0">
              <a:latin typeface=" Times New Roman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711024" y="3345061"/>
            <a:ext cx="391133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B3ED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PEACE</a:t>
            </a:r>
            <a:endParaRPr lang="en-US" sz="900" dirty="0">
              <a:latin typeface=" Times New Roman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137863" y="3345061"/>
            <a:ext cx="2359223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 Times New Roman"/>
                <a:ea typeface="Inter" pitchFamily="34" charset="-122"/>
                <a:cs typeface="Inter" pitchFamily="34" charset="-120"/>
              </a:rPr>
              <a:t>— Instant results when seconds count</a:t>
            </a:r>
            <a:endParaRPr lang="en-US" sz="950" dirty="0">
              <a:latin typeface=" Times New Roman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71500" y="3597733"/>
            <a:ext cx="1759874" cy="4037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 Times New Roman"/>
                <a:ea typeface="Inter" pitchFamily="34" charset="-122"/>
                <a:cs typeface="Inter" pitchFamily="34" charset="-120"/>
              </a:rPr>
              <a:t>Data Sanctuary</a:t>
            </a:r>
            <a:endParaRPr lang="en-US" sz="950" dirty="0">
              <a:latin typeface=" Times New Roman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2331374" y="3597733"/>
            <a:ext cx="2272494" cy="403700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ctr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 Times New Roman"/>
                <a:ea typeface="Inter" pitchFamily="34" charset="-122"/>
                <a:cs typeface="Inter" pitchFamily="34" charset="-120"/>
              </a:rPr>
              <a:t>PostgreSQL Architecture</a:t>
            </a:r>
            <a:endParaRPr lang="en-US" sz="950" dirty="0">
              <a:latin typeface=" Times New Roman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4711024" y="3721894"/>
            <a:ext cx="455253" cy="1384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3B3ED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SAFETY</a:t>
            </a:r>
            <a:endParaRPr lang="en-US" sz="900" dirty="0">
              <a:latin typeface=" Times New Roman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225374" y="3721894"/>
            <a:ext cx="2068116" cy="146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D3748"/>
                </a:solidFill>
                <a:latin typeface=" Times New Roman"/>
                <a:ea typeface="Inter" pitchFamily="34" charset="-122"/>
                <a:cs typeface="Inter" pitchFamily="34" charset="-120"/>
              </a:rPr>
              <a:t>— Personal moments stay private</a:t>
            </a:r>
            <a:endParaRPr lang="en-US" sz="950" dirty="0">
              <a:latin typeface=" Times New Roman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0" y="4277320"/>
            <a:ext cx="9144000" cy="146194"/>
          </a:xfrm>
          <a:prstGeom prst="rect">
            <a:avLst/>
          </a:prstGeom>
          <a:noFill/>
          <a:ln/>
        </p:spPr>
        <p:txBody>
          <a:bodyPr wrap="square" lIns="680339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i="1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"Technical excellence is our foundation for your peace of mind."</a:t>
            </a:r>
            <a:endParaRPr lang="en-US" sz="950" dirty="0">
              <a:latin typeface=" 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7702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 Future of Even Deeper Support</a:t>
            </a:r>
            <a:endParaRPr lang="en-US" sz="2450" dirty="0">
              <a:latin typeface=" Times New Roman"/>
            </a:endParaRPr>
          </a:p>
        </p:txBody>
      </p:sp>
      <p:sp>
        <p:nvSpPr>
          <p:cNvPr id="4" name="Shape 1"/>
          <p:cNvSpPr/>
          <p:nvPr/>
        </p:nvSpPr>
        <p:spPr>
          <a:xfrm>
            <a:off x="571500" y="1271588"/>
            <a:ext cx="571500" cy="571500"/>
          </a:xfrm>
          <a:prstGeom prst="ellipse">
            <a:avLst/>
          </a:prstGeom>
          <a:solidFill>
            <a:srgbClr val="F6AD55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89" y="1428750"/>
            <a:ext cx="289322" cy="2571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21594" y="1457325"/>
            <a:ext cx="3036094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The Rhythm of Life</a:t>
            </a:r>
            <a:endParaRPr lang="en-US" sz="1300" dirty="0">
              <a:latin typeface=" Times New Roman"/>
            </a:endParaRPr>
          </a:p>
        </p:txBody>
      </p:sp>
      <p:sp>
        <p:nvSpPr>
          <p:cNvPr id="7" name="Text 3"/>
          <p:cNvSpPr/>
          <p:nvPr/>
        </p:nvSpPr>
        <p:spPr>
          <a:xfrm>
            <a:off x="1321594" y="1768078"/>
            <a:ext cx="3036094" cy="35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Integrating wearables to monitor heart rate and sleep patterns, providing a more intimate understanding of your daily health.</a:t>
            </a:r>
            <a:endParaRPr lang="en-US" sz="950" dirty="0">
              <a:latin typeface=" Times New Roman"/>
            </a:endParaRPr>
          </a:p>
        </p:txBody>
      </p:sp>
      <p:sp>
        <p:nvSpPr>
          <p:cNvPr id="8" name="Shape 4"/>
          <p:cNvSpPr/>
          <p:nvPr/>
        </p:nvSpPr>
        <p:spPr>
          <a:xfrm>
            <a:off x="4786313" y="1271588"/>
            <a:ext cx="571500" cy="571500"/>
          </a:xfrm>
          <a:prstGeom prst="ellipse">
            <a:avLst/>
          </a:prstGeom>
          <a:solidFill>
            <a:srgbClr val="F6AD55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1328" y="1428750"/>
            <a:ext cx="321469" cy="2571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536406" y="1457325"/>
            <a:ext cx="3036094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 Global Voice</a:t>
            </a:r>
            <a:endParaRPr lang="en-US" sz="1300" dirty="0">
              <a:latin typeface=" Times New Roman"/>
            </a:endParaRPr>
          </a:p>
        </p:txBody>
      </p:sp>
      <p:sp>
        <p:nvSpPr>
          <p:cNvPr id="11" name="Text 6"/>
          <p:cNvSpPr/>
          <p:nvPr/>
        </p:nvSpPr>
        <p:spPr>
          <a:xfrm>
            <a:off x="5536406" y="1768078"/>
            <a:ext cx="3036094" cy="35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Bringing Aoun to more patients with multi language support, ensuring everyone can access care in their own language.</a:t>
            </a:r>
            <a:endParaRPr lang="en-US" sz="950" dirty="0">
              <a:latin typeface=" Times New Roman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571500" y="2813856"/>
            <a:ext cx="571500" cy="571500"/>
          </a:xfrm>
          <a:prstGeom prst="ellipse">
            <a:avLst/>
          </a:prstGeom>
          <a:solidFill>
            <a:srgbClr val="F6AD55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516" y="2971019"/>
            <a:ext cx="321469" cy="2571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21594" y="2999594"/>
            <a:ext cx="3036094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Seamless Connection</a:t>
            </a:r>
            <a:endParaRPr lang="en-US" sz="1300" dirty="0">
              <a:latin typeface=" Times New Roman"/>
            </a:endParaRPr>
          </a:p>
        </p:txBody>
      </p:sp>
      <p:sp>
        <p:nvSpPr>
          <p:cNvPr id="15" name="Text 9"/>
          <p:cNvSpPr/>
          <p:nvPr/>
        </p:nvSpPr>
        <p:spPr>
          <a:xfrm>
            <a:off x="1321594" y="3310347"/>
            <a:ext cx="3036094" cy="35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Linking directly with hospital Electronic Health Records (EHR) for a truly integrated and effortless care journey.</a:t>
            </a:r>
            <a:endParaRPr lang="en-US" sz="950" dirty="0">
              <a:latin typeface=" Times New Roman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786313" y="2813856"/>
            <a:ext cx="571500" cy="571500"/>
          </a:xfrm>
          <a:prstGeom prst="ellipse">
            <a:avLst/>
          </a:prstGeom>
          <a:solidFill>
            <a:srgbClr val="F6AD55">
              <a:alpha val="1000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7402" y="2971019"/>
            <a:ext cx="289322" cy="257175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536406" y="2999594"/>
            <a:ext cx="3036094" cy="200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Evolving with You</a:t>
            </a:r>
            <a:endParaRPr lang="en-US" sz="1300" dirty="0">
              <a:latin typeface=" Times New Roman"/>
            </a:endParaRPr>
          </a:p>
        </p:txBody>
      </p:sp>
      <p:sp>
        <p:nvSpPr>
          <p:cNvPr id="19" name="Text 12"/>
          <p:cNvSpPr/>
          <p:nvPr/>
        </p:nvSpPr>
        <p:spPr>
          <a:xfrm>
            <a:off x="5536406" y="3310347"/>
            <a:ext cx="3036094" cy="355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Moving toward real-time video wellness analysis for even more sensitive and dynamic physiological tracking.</a:t>
            </a:r>
            <a:endParaRPr lang="en-US" sz="950" dirty="0">
              <a:latin typeface=" Times New Roman"/>
            </a:endParaRPr>
          </a:p>
        </p:txBody>
      </p:sp>
      <p:sp>
        <p:nvSpPr>
          <p:cNvPr id="20" name="Shape 13"/>
          <p:cNvSpPr/>
          <p:nvPr/>
        </p:nvSpPr>
        <p:spPr>
          <a:xfrm>
            <a:off x="0" y="4356125"/>
            <a:ext cx="9144000" cy="725091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0" y="4356125"/>
            <a:ext cx="9144000" cy="7144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US">
              <a:latin typeface=" Times New Roman"/>
            </a:endParaRPr>
          </a:p>
        </p:txBody>
      </p:sp>
      <p:sp>
        <p:nvSpPr>
          <p:cNvPr id="22" name="Text 15"/>
          <p:cNvSpPr/>
          <p:nvPr/>
        </p:nvSpPr>
        <p:spPr>
          <a:xfrm>
            <a:off x="571500" y="4727600"/>
            <a:ext cx="8001000" cy="176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"Evolving Aoun into a comprehensive, global oncology monitoring standard."</a:t>
            </a:r>
            <a:endParaRPr lang="en-US" sz="1150" dirty="0">
              <a:latin typeface=" 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570495"/>
            <a:ext cx="7143750" cy="438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kern="0" spc="-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Conclusion: You Are Never Alone</a:t>
            </a:r>
            <a:endParaRPr lang="en-US" sz="2850" dirty="0">
              <a:latin typeface=" Times New Roman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00125" y="1225934"/>
            <a:ext cx="7143750" cy="468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 Times New Roman"/>
                <a:ea typeface="Inter" pitchFamily="34" charset="-122"/>
                <a:cs typeface="Inter" pitchFamily="34" charset="-120"/>
              </a:rPr>
              <a:t>Aoun bridges the gap in oncology care with intelligence and empathy, ensuring that every patient has a continuous circle of support.</a:t>
            </a:r>
            <a:endParaRPr lang="en-US" sz="1250" dirty="0">
              <a:latin typeface=" Times New Roman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46302" y="2931840"/>
            <a:ext cx="1298377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The Missing Link</a:t>
            </a:r>
            <a:endParaRPr lang="en-US" sz="1100" dirty="0">
              <a:latin typeface=" Times New Roman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00125" y="3306887"/>
            <a:ext cx="2190731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Transforming reactive monitoring into a proactive, empathetic ecosystem.</a:t>
            </a:r>
            <a:endParaRPr lang="en-US" sz="850" dirty="0">
              <a:latin typeface=" Times New Roman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097" y="2274615"/>
            <a:ext cx="285750" cy="285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57408" y="2931840"/>
            <a:ext cx="1029128" cy="1692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 Vision of Hope</a:t>
            </a:r>
            <a:endParaRPr lang="en-US" sz="1100" dirty="0">
              <a:latin typeface=" Times New Roman"/>
            </a:endParaRPr>
          </a:p>
        </p:txBody>
      </p:sp>
      <p:sp>
        <p:nvSpPr>
          <p:cNvPr id="9" name="Text 5"/>
          <p:cNvSpPr/>
          <p:nvPr/>
        </p:nvSpPr>
        <p:spPr>
          <a:xfrm>
            <a:off x="3476606" y="3306887"/>
            <a:ext cx="2190759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Empowering patients to take control of their journey with confidence.</a:t>
            </a:r>
            <a:endParaRPr lang="en-US" sz="850" dirty="0">
              <a:latin typeface=" Times New Roman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7747" y="2274615"/>
            <a:ext cx="321469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36785" y="2931840"/>
            <a:ext cx="1423392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3748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The Future of Care</a:t>
            </a:r>
            <a:endParaRPr lang="en-US" sz="1100" dirty="0">
              <a:latin typeface=" Times New Roman"/>
            </a:endParaRPr>
          </a:p>
        </p:txBody>
      </p:sp>
      <p:sp>
        <p:nvSpPr>
          <p:cNvPr id="12" name="Text 7"/>
          <p:cNvSpPr/>
          <p:nvPr/>
        </p:nvSpPr>
        <p:spPr>
          <a:xfrm>
            <a:off x="5953116" y="3306887"/>
            <a:ext cx="2190731" cy="30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 dirty="0">
                <a:solidFill>
                  <a:srgbClr val="718096"/>
                </a:solidFill>
                <a:latin typeface=" Times New Roman"/>
                <a:ea typeface="Inter" pitchFamily="34" charset="-122"/>
                <a:cs typeface="Inter" pitchFamily="34" charset="-120"/>
              </a:rPr>
              <a:t>Where technology serves the human spirit, one patient at a time.</a:t>
            </a:r>
            <a:endParaRPr lang="en-US" sz="850" dirty="0">
              <a:latin typeface=" Times New Roman"/>
            </a:endParaRPr>
          </a:p>
        </p:txBody>
      </p:sp>
      <p:sp>
        <p:nvSpPr>
          <p:cNvPr id="13" name="Text 8"/>
          <p:cNvSpPr/>
          <p:nvPr/>
        </p:nvSpPr>
        <p:spPr>
          <a:xfrm>
            <a:off x="2066330" y="4335587"/>
            <a:ext cx="5011341" cy="505420"/>
          </a:xfrm>
          <a:prstGeom prst="rect">
            <a:avLst/>
          </a:prstGeom>
          <a:noFill/>
          <a:ln/>
        </p:spPr>
        <p:txBody>
          <a:bodyPr wrap="square" lIns="0" tIns="255143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6AD55"/>
                </a:solidFill>
                <a:latin typeface=" Times New Roman"/>
                <a:ea typeface="Inter Bold" pitchFamily="34" charset="-122"/>
                <a:cs typeface="Inter Bold" pitchFamily="34" charset="-120"/>
              </a:rPr>
              <a:t>Aoun: Support for Every Step of the Journey.</a:t>
            </a:r>
            <a:endParaRPr lang="en-US" sz="1600" dirty="0">
              <a:latin typeface=" 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6c96e5c-8309-4df0-a719-0f5e873a8c55" xsi:nil="true"/>
    <lcf76f155ced4ddcb4097134ff3c332f xmlns="8058afea-2938-44dd-ad89-d696ef8af3a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B0D17F62957F49A64D99E9FFA3776B" ma:contentTypeVersion="10" ma:contentTypeDescription="Create a new document." ma:contentTypeScope="" ma:versionID="e42e71b9b0ef54087f5862745657392d">
  <xsd:schema xmlns:xsd="http://www.w3.org/2001/XMLSchema" xmlns:xs="http://www.w3.org/2001/XMLSchema" xmlns:p="http://schemas.microsoft.com/office/2006/metadata/properties" xmlns:ns2="8058afea-2938-44dd-ad89-d696ef8af3ae" xmlns:ns3="76c96e5c-8309-4df0-a719-0f5e873a8c55" targetNamespace="http://schemas.microsoft.com/office/2006/metadata/properties" ma:root="true" ma:fieldsID="bafc81e17aa447e88c8021f7e6069d2f" ns2:_="" ns3:_="">
    <xsd:import namespace="8058afea-2938-44dd-ad89-d696ef8af3ae"/>
    <xsd:import namespace="76c96e5c-8309-4df0-a719-0f5e873a8c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58afea-2938-44dd-ad89-d696ef8af3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332291e-7ecc-4d1d-b662-a754a410170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c96e5c-8309-4df0-a719-0f5e873a8c5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93f355d-baa7-41ef-8f69-1bf2c2c6d851}" ma:internalName="TaxCatchAll" ma:showField="CatchAllData" ma:web="76c96e5c-8309-4df0-a719-0f5e873a8c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4B90EE7-0585-4599-85CD-458D1B79A91B}">
  <ds:schemaRefs>
    <ds:schemaRef ds:uri="http://schemas.microsoft.com/office/2006/metadata/properties"/>
    <ds:schemaRef ds:uri="http://schemas.microsoft.com/office/infopath/2007/PartnerControls"/>
    <ds:schemaRef ds:uri="76c96e5c-8309-4df0-a719-0f5e873a8c55"/>
    <ds:schemaRef ds:uri="8058afea-2938-44dd-ad89-d696ef8af3ae"/>
  </ds:schemaRefs>
</ds:datastoreItem>
</file>

<file path=customXml/itemProps2.xml><?xml version="1.0" encoding="utf-8"?>
<ds:datastoreItem xmlns:ds="http://schemas.openxmlformats.org/officeDocument/2006/customXml" ds:itemID="{0447B58E-095E-4F0C-B5DF-466CBA5DC58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58afea-2938-44dd-ad89-d696ef8af3ae"/>
    <ds:schemaRef ds:uri="76c96e5c-8309-4df0-a719-0f5e873a8c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7836089-3269-4F1F-A3D2-04C454B2684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839</Words>
  <Application>Microsoft Office PowerPoint</Application>
  <PresentationFormat>On-screen Show (16:9)</PresentationFormat>
  <Paragraphs>128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 Times New Roman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Mohammad Thaher</cp:lastModifiedBy>
  <cp:revision>8</cp:revision>
  <dcterms:created xsi:type="dcterms:W3CDTF">2026-06-11T16:59:06Z</dcterms:created>
  <dcterms:modified xsi:type="dcterms:W3CDTF">2026-07-20T20:54:13Z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0x010100D1B0D17F62957F49A64D99E9FFA3776B</vt:lpwstr>
  </property>
</Properties>
</file>