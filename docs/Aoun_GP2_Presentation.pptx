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57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1594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A2E3B"/>
          </a:solidFill>
          <a:ln w="12700">
            <a:solidFill>
              <a:srgbClr val="1A2E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" y="502920"/>
            <a:ext cx="64008" cy="146304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Cancer Patient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System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8346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Aoun (عون)  -  Graduation Project 2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126480" y="6400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A8D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080760" y="91440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Mohammad Thaher (202311828)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Mohammad Haji (202211392)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Hussameddin Alrantisi (202412438)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126480" y="210312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A8D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by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126480" y="237744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Hassan Altarawneh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126480" y="28803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A8D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126480" y="31546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</a:t>
            </a:r>
            <a:endParaRPr lang="en-US" sz="13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8DCDFC1-D95C-716D-73ED-0299D0E12A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650875"/>
            <a:ext cx="3849402" cy="116712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502920" cy="6400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D5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Global Burden of Cancer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20M+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457200" y="260604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cancer cases in 2022  (WHO / Globocan)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306324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9.7M+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57200" y="393192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cancer-related deaths in 2022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1417320"/>
            <a:ext cx="4206240" cy="5486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0" y="1527048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5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Global Incidence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0" y="192024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Driven by aging populations, urbanization, and lifestyle changes like tobacco use and unhealthy diets.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0" y="2606040"/>
            <a:ext cx="4206240" cy="5486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0" y="2715768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5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System Strain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0" y="310896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Overwhelmed by growing numbers of patients requiring long-term monitoring and diagnostic services.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0" y="3794760"/>
            <a:ext cx="4206240" cy="5486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0" y="3904488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5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Monitoring Gap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0" y="429768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 visits fail to capture daily symptom variations, leading to delayed medical interventions.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/>
          <p:nvPr/>
        </p:nvSpPr>
        <p:spPr>
          <a:xfrm>
            <a:off x="457200" y="380000"/>
            <a:ext cx="8229600" cy="7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D5C44"/>
                </a:solidFill>
                <a:latin typeface="Calibri" pitchFamily="34" charset="0"/>
              </a:rPr>
              <a:t>Limitations of Current Systems</a:t>
            </a:r>
          </a:p>
        </p:txBody>
      </p:sp>
      <p:sp>
        <p:nvSpPr>
          <p:cNvPr id="4" name="Subtitle"/>
          <p:cNvSpPr/>
          <p:nvPr/>
        </p:nvSpPr>
        <p:spPr>
          <a:xfrm>
            <a:off x="457200" y="1050000"/>
            <a:ext cx="8229600" cy="3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</a:rPr>
              <a:t>Why existing solutions fall short - and what Aoun solves</a:t>
            </a:r>
          </a:p>
        </p:txBody>
      </p:sp>
      <p:sp>
        <p:nvSpPr>
          <p:cNvPr id="10" name="C1Bg"/>
          <p:cNvSpPr/>
          <p:nvPr/>
        </p:nvSpPr>
        <p:spPr>
          <a:xfrm>
            <a:off x="587400" y="1371463"/>
            <a:ext cx="4014800" cy="1680000"/>
          </a:xfrm>
          <a:prstGeom prst="roundRect">
            <a:avLst>
              <a:gd name="adj" fmla="val 30000"/>
            </a:avLst>
          </a:prstGeom>
          <a:solidFill>
            <a:srgbClr val="E8F7F2"/>
          </a:solidFill>
          <a:ln w="19050">
            <a:solidFill>
              <a:srgbClr val="C5EA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C1Bar"/>
          <p:cNvSpPr/>
          <p:nvPr/>
        </p:nvSpPr>
        <p:spPr>
          <a:xfrm>
            <a:off x="457200" y="1380000"/>
            <a:ext cx="100000" cy="168000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C1Num"/>
          <p:cNvSpPr/>
          <p:nvPr/>
        </p:nvSpPr>
        <p:spPr>
          <a:xfrm>
            <a:off x="734383" y="1490000"/>
            <a:ext cx="280000" cy="280000"/>
          </a:xfrm>
          <a:prstGeom prst="ellipse">
            <a:avLst/>
          </a:prstGeom>
          <a:solidFill>
            <a:srgbClr val="1D9E75"/>
          </a:solidFill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13" name="C1Title"/>
          <p:cNvSpPr/>
          <p:nvPr/>
        </p:nvSpPr>
        <p:spPr>
          <a:xfrm>
            <a:off x="970000" y="1440000"/>
            <a:ext cx="34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5C44"/>
                </a:solidFill>
                <a:latin typeface="Calibri" pitchFamily="34" charset="0"/>
              </a:rPr>
              <a:t>Data Collection</a:t>
            </a:r>
          </a:p>
        </p:txBody>
      </p:sp>
      <p:sp>
        <p:nvSpPr>
          <p:cNvPr id="14" name="C1Body"/>
          <p:cNvSpPr/>
          <p:nvPr/>
        </p:nvSpPr>
        <p:spPr>
          <a:xfrm>
            <a:off x="620000" y="1840000"/>
            <a:ext cx="3760000" cy="11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D9E75"/>
                </a:solidFill>
                <a:latin typeface="Calibri" pitchFamily="34" charset="0"/>
              </a:rPr>
              <a:t>●  </a:t>
            </a:r>
            <a:r>
              <a:rPr lang="en-US" sz="1100" dirty="0">
                <a:solidFill>
                  <a:srgbClr val="3A3A3A"/>
                </a:solidFill>
                <a:latin typeface="Calibri" pitchFamily="34" charset="0"/>
              </a:rPr>
              <a:t>Manual checklists fail to capture daily symptom nuances</a:t>
            </a:r>
          </a:p>
          <a:p>
            <a:pPr marL="0" indent="0">
              <a:buNone/>
            </a:pPr>
            <a:r>
              <a:rPr lang="en-US" sz="1100" b="1" dirty="0">
                <a:solidFill>
                  <a:srgbClr val="1D9E75"/>
                </a:solidFill>
                <a:latin typeface="Calibri" pitchFamily="34" charset="0"/>
              </a:rPr>
              <a:t>●  </a:t>
            </a:r>
            <a:r>
              <a:rPr lang="en-US" sz="1100" dirty="0">
                <a:solidFill>
                  <a:srgbClr val="3A3A3A"/>
                </a:solidFill>
                <a:latin typeface="Calibri" pitchFamily="34" charset="0"/>
              </a:rPr>
              <a:t>No real-time tracking between appointments</a:t>
            </a:r>
          </a:p>
        </p:txBody>
      </p:sp>
      <p:sp>
        <p:nvSpPr>
          <p:cNvPr id="20" name="C2Bg"/>
          <p:cNvSpPr/>
          <p:nvPr/>
        </p:nvSpPr>
        <p:spPr>
          <a:xfrm>
            <a:off x="4835000" y="1350000"/>
            <a:ext cx="4014800" cy="1680000"/>
          </a:xfrm>
          <a:prstGeom prst="roundRect">
            <a:avLst>
              <a:gd name="adj" fmla="val 30000"/>
            </a:avLst>
          </a:prstGeom>
          <a:solidFill>
            <a:srgbClr val="E8F7F2"/>
          </a:solidFill>
          <a:ln w="19050">
            <a:solidFill>
              <a:srgbClr val="C5EA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" name="C2Bar"/>
          <p:cNvSpPr/>
          <p:nvPr/>
        </p:nvSpPr>
        <p:spPr>
          <a:xfrm>
            <a:off x="4672200" y="1380000"/>
            <a:ext cx="100000" cy="1680000"/>
          </a:xfrm>
          <a:prstGeom prst="rect">
            <a:avLst/>
          </a:prstGeom>
          <a:solidFill>
            <a:srgbClr val="0D5C4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C2Num"/>
          <p:cNvSpPr/>
          <p:nvPr/>
        </p:nvSpPr>
        <p:spPr>
          <a:xfrm>
            <a:off x="4943000" y="1465703"/>
            <a:ext cx="280000" cy="280000"/>
          </a:xfrm>
          <a:prstGeom prst="ellipse">
            <a:avLst/>
          </a:prstGeom>
          <a:solidFill>
            <a:srgbClr val="0D5C44"/>
          </a:solidFill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</a:rPr>
              <a:t>2</a:t>
            </a:r>
          </a:p>
        </p:txBody>
      </p:sp>
      <p:sp>
        <p:nvSpPr>
          <p:cNvPr id="23" name="C2Title"/>
          <p:cNvSpPr/>
          <p:nvPr/>
        </p:nvSpPr>
        <p:spPr>
          <a:xfrm>
            <a:off x="5185000" y="1440000"/>
            <a:ext cx="34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5C44"/>
                </a:solidFill>
                <a:latin typeface="Calibri" pitchFamily="34" charset="0"/>
              </a:rPr>
              <a:t>Intelligence Gap</a:t>
            </a:r>
          </a:p>
        </p:txBody>
      </p:sp>
      <p:sp>
        <p:nvSpPr>
          <p:cNvPr id="24" name="C2Body"/>
          <p:cNvSpPr/>
          <p:nvPr/>
        </p:nvSpPr>
        <p:spPr>
          <a:xfrm>
            <a:off x="4835000" y="1840000"/>
            <a:ext cx="3760000" cy="11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D9E75"/>
                </a:solidFill>
                <a:latin typeface="Calibri" pitchFamily="34" charset="0"/>
              </a:rPr>
              <a:t>●  </a:t>
            </a:r>
            <a:r>
              <a:rPr lang="en-US" sz="1100" dirty="0">
                <a:solidFill>
                  <a:srgbClr val="3A3A3A"/>
                </a:solidFill>
                <a:latin typeface="Calibri" pitchFamily="34" charset="0"/>
              </a:rPr>
              <a:t>No ML to analyze symptoms or predict complications</a:t>
            </a:r>
          </a:p>
          <a:p>
            <a:pPr marL="0" indent="0">
              <a:buNone/>
            </a:pPr>
            <a:r>
              <a:rPr lang="en-US" sz="1100" b="1" dirty="0">
                <a:solidFill>
                  <a:srgbClr val="1D9E75"/>
                </a:solidFill>
                <a:latin typeface="Calibri" pitchFamily="34" charset="0"/>
              </a:rPr>
              <a:t>●  </a:t>
            </a:r>
            <a:r>
              <a:rPr lang="en-US" sz="1100" dirty="0">
                <a:solidFill>
                  <a:srgbClr val="3A3A3A"/>
                </a:solidFill>
                <a:latin typeface="Calibri" pitchFamily="34" charset="0"/>
              </a:rPr>
              <a:t>No automated early warning for critical health changes</a:t>
            </a:r>
          </a:p>
        </p:txBody>
      </p:sp>
      <p:sp>
        <p:nvSpPr>
          <p:cNvPr id="30" name="C3Bg"/>
          <p:cNvSpPr/>
          <p:nvPr/>
        </p:nvSpPr>
        <p:spPr>
          <a:xfrm>
            <a:off x="587400" y="3120000"/>
            <a:ext cx="4014800" cy="1680000"/>
          </a:xfrm>
          <a:prstGeom prst="roundRect">
            <a:avLst>
              <a:gd name="adj" fmla="val 30000"/>
            </a:avLst>
          </a:prstGeom>
          <a:solidFill>
            <a:srgbClr val="E8F7F2"/>
          </a:solidFill>
          <a:ln w="19050">
            <a:solidFill>
              <a:srgbClr val="C5EA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1" name="C3Bar"/>
          <p:cNvSpPr/>
          <p:nvPr/>
        </p:nvSpPr>
        <p:spPr>
          <a:xfrm>
            <a:off x="457200" y="3160000"/>
            <a:ext cx="100000" cy="168000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2" name="C3Num"/>
          <p:cNvSpPr/>
          <p:nvPr/>
        </p:nvSpPr>
        <p:spPr>
          <a:xfrm>
            <a:off x="690000" y="3231463"/>
            <a:ext cx="280000" cy="280000"/>
          </a:xfrm>
          <a:prstGeom prst="ellipse">
            <a:avLst/>
          </a:prstGeom>
          <a:solidFill>
            <a:srgbClr val="1D9E75"/>
          </a:solidFill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</a:rPr>
              <a:t>3</a:t>
            </a:r>
          </a:p>
        </p:txBody>
      </p:sp>
      <p:sp>
        <p:nvSpPr>
          <p:cNvPr id="33" name="C3Title"/>
          <p:cNvSpPr/>
          <p:nvPr/>
        </p:nvSpPr>
        <p:spPr>
          <a:xfrm>
            <a:off x="970000" y="3220000"/>
            <a:ext cx="34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5C44"/>
                </a:solidFill>
                <a:latin typeface="Calibri" pitchFamily="34" charset="0"/>
              </a:rPr>
              <a:t>No Personalization</a:t>
            </a:r>
          </a:p>
        </p:txBody>
      </p:sp>
      <p:sp>
        <p:nvSpPr>
          <p:cNvPr id="34" name="C3Body"/>
          <p:cNvSpPr/>
          <p:nvPr/>
        </p:nvSpPr>
        <p:spPr>
          <a:xfrm>
            <a:off x="620000" y="3620000"/>
            <a:ext cx="3760000" cy="11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D9E75"/>
                </a:solidFill>
                <a:latin typeface="Calibri" pitchFamily="34" charset="0"/>
              </a:rPr>
              <a:t>●  </a:t>
            </a:r>
            <a:r>
              <a:rPr lang="en-US" sz="1100" dirty="0">
                <a:solidFill>
                  <a:srgbClr val="3A3A3A"/>
                </a:solidFill>
                <a:latin typeface="Calibri" pitchFamily="34" charset="0"/>
              </a:rPr>
              <a:t>Generic tools not tailored to cancer type, stage, or history</a:t>
            </a:r>
          </a:p>
          <a:p>
            <a:pPr marL="0" indent="0">
              <a:buNone/>
            </a:pPr>
            <a:r>
              <a:rPr lang="en-US" sz="1100" b="1" dirty="0">
                <a:solidFill>
                  <a:srgbClr val="1D9E75"/>
                </a:solidFill>
                <a:latin typeface="Calibri" pitchFamily="34" charset="0"/>
              </a:rPr>
              <a:t>●  </a:t>
            </a:r>
            <a:r>
              <a:rPr lang="en-US" sz="1100" dirty="0">
                <a:solidFill>
                  <a:srgbClr val="3A3A3A"/>
                </a:solidFill>
                <a:latin typeface="Calibri" pitchFamily="34" charset="0"/>
              </a:rPr>
              <a:t>One-size-fits-all ignores individual patient risk factors</a:t>
            </a:r>
          </a:p>
        </p:txBody>
      </p:sp>
      <p:sp>
        <p:nvSpPr>
          <p:cNvPr id="40" name="C4Bg"/>
          <p:cNvSpPr/>
          <p:nvPr/>
        </p:nvSpPr>
        <p:spPr>
          <a:xfrm>
            <a:off x="4882200" y="3132034"/>
            <a:ext cx="4014800" cy="1680000"/>
          </a:xfrm>
          <a:prstGeom prst="roundRect">
            <a:avLst>
              <a:gd name="adj" fmla="val 30000"/>
            </a:avLst>
          </a:prstGeom>
          <a:solidFill>
            <a:srgbClr val="E8F7F2"/>
          </a:solidFill>
          <a:ln w="19050">
            <a:solidFill>
              <a:srgbClr val="C5EA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1" name="C4Bar"/>
          <p:cNvSpPr/>
          <p:nvPr/>
        </p:nvSpPr>
        <p:spPr>
          <a:xfrm>
            <a:off x="4672200" y="3160000"/>
            <a:ext cx="100000" cy="1680000"/>
          </a:xfrm>
          <a:prstGeom prst="rect">
            <a:avLst/>
          </a:prstGeom>
          <a:solidFill>
            <a:srgbClr val="0D5C4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2" name="C4Num"/>
          <p:cNvSpPr/>
          <p:nvPr/>
        </p:nvSpPr>
        <p:spPr>
          <a:xfrm>
            <a:off x="4984800" y="3267966"/>
            <a:ext cx="280000" cy="280000"/>
          </a:xfrm>
          <a:prstGeom prst="ellipse">
            <a:avLst/>
          </a:prstGeom>
          <a:solidFill>
            <a:srgbClr val="0D5C44"/>
          </a:solidFill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</a:rPr>
              <a:t>4</a:t>
            </a:r>
          </a:p>
        </p:txBody>
      </p:sp>
      <p:sp>
        <p:nvSpPr>
          <p:cNvPr id="43" name="C4Title"/>
          <p:cNvSpPr/>
          <p:nvPr/>
        </p:nvSpPr>
        <p:spPr>
          <a:xfrm>
            <a:off x="5185000" y="3220000"/>
            <a:ext cx="34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5C44"/>
                </a:solidFill>
                <a:latin typeface="Calibri" pitchFamily="34" charset="0"/>
              </a:rPr>
              <a:t>Poor Visibility</a:t>
            </a:r>
          </a:p>
        </p:txBody>
      </p:sp>
      <p:sp>
        <p:nvSpPr>
          <p:cNvPr id="44" name="C4Body"/>
          <p:cNvSpPr/>
          <p:nvPr/>
        </p:nvSpPr>
        <p:spPr>
          <a:xfrm>
            <a:off x="4835000" y="3620000"/>
            <a:ext cx="3760000" cy="11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D9E75"/>
                </a:solidFill>
                <a:latin typeface="Calibri" pitchFamily="34" charset="0"/>
              </a:rPr>
              <a:t>●  </a:t>
            </a:r>
            <a:r>
              <a:rPr lang="en-US" sz="1100" dirty="0">
                <a:solidFill>
                  <a:srgbClr val="3A3A3A"/>
                </a:solidFill>
                <a:latin typeface="Calibri" pitchFamily="34" charset="0"/>
              </a:rPr>
              <a:t>No dashboards or charts to track patient progress over time</a:t>
            </a:r>
          </a:p>
          <a:p>
            <a:pPr marL="0" indent="0">
              <a:buNone/>
            </a:pPr>
            <a:r>
              <a:rPr lang="en-US" sz="1100" b="1" dirty="0">
                <a:solidFill>
                  <a:srgbClr val="1D9E75"/>
                </a:solidFill>
                <a:latin typeface="Calibri" pitchFamily="34" charset="0"/>
              </a:rPr>
              <a:t>●  </a:t>
            </a:r>
            <a:r>
              <a:rPr lang="en-US" sz="1100" dirty="0">
                <a:solidFill>
                  <a:srgbClr val="3A3A3A"/>
                </a:solidFill>
                <a:latin typeface="Calibri" pitchFamily="34" charset="0"/>
              </a:rPr>
              <a:t>Doctors spend time on low-risk rather than flagged patients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502920" cy="6400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D5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Aoun Solution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4864" cy="146304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47218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5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Data Collection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783080"/>
            <a:ext cx="391363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symptom logging (21 indicators), lifestyle tracking (sleep, water, exercise, diet) through a simple mobile interface.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417320"/>
            <a:ext cx="54864" cy="1463040"/>
          </a:xfrm>
          <a:prstGeom prst="rect">
            <a:avLst/>
          </a:prstGeom>
          <a:solidFill>
            <a:srgbClr val="0D5C44"/>
          </a:solidFill>
          <a:ln w="12700">
            <a:solidFill>
              <a:srgbClr val="0D5C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892040" y="147218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5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Analysis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92040" y="1783080"/>
            <a:ext cx="391363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trained on 743,728 patients — classifies risk as High, Medium, or Low with 92% accuracy.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108960"/>
            <a:ext cx="54864" cy="146304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94360" y="316382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5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Warning System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3474720"/>
            <a:ext cx="391363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real-time alerts sent to the patient's oncologist when High risk is detected, via Firebase push notification.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3108960"/>
            <a:ext cx="54864" cy="1463040"/>
          </a:xfrm>
          <a:prstGeom prst="rect">
            <a:avLst/>
          </a:prstGeom>
          <a:solidFill>
            <a:srgbClr val="0D5C44"/>
          </a:solidFill>
          <a:ln w="12700">
            <a:solidFill>
              <a:srgbClr val="0D5C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92040" y="316382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5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Recommendations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92040" y="3474720"/>
            <a:ext cx="391363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Lifestyle guidance (sleep, hydration, exercise, diet) generated from the patient's own symptom and lifestyle data.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502920" cy="6400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D5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011680" cy="141732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38988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App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755648"/>
            <a:ext cx="2011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· Doctor · Admin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screens · Samsung S918B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487168" y="1965960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D5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697480" y="1325880"/>
            <a:ext cx="2011680" cy="1417320"/>
          </a:xfrm>
          <a:prstGeom prst="rect">
            <a:avLst/>
          </a:prstGeom>
          <a:solidFill>
            <a:srgbClr val="0D5C44"/>
          </a:solidFill>
          <a:ln w="12700">
            <a:solidFill>
              <a:srgbClr val="0D5C44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697480" y="138988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697480" y="1755648"/>
            <a:ext cx="2011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· Port 8002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ORM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27448" y="1965960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D5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937760" y="1325880"/>
            <a:ext cx="2011680" cy="141732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937760" y="138988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Service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0" y="1755648"/>
            <a:ext cx="2011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· Port 8001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 Accuracy · 23 Features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967728" y="1965960"/>
            <a:ext cx="2011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D5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178040" y="1325880"/>
            <a:ext cx="2011680" cy="1417320"/>
          </a:xfrm>
          <a:prstGeom prst="rect">
            <a:avLst/>
          </a:prstGeom>
          <a:solidFill>
            <a:srgbClr val="0D5C44"/>
          </a:solidFill>
          <a:ln w="12700">
            <a:solidFill>
              <a:srgbClr val="0D5C44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178040" y="138988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Mistral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178040" y="1755648"/>
            <a:ext cx="2011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LLM · Port 11434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cloud · No API key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017520"/>
            <a:ext cx="1691640" cy="1143000"/>
          </a:xfrm>
          <a:prstGeom prst="rect">
            <a:avLst/>
          </a:prstGeom>
          <a:solidFill>
            <a:srgbClr val="E8F7F2"/>
          </a:solidFill>
          <a:ln w="12700">
            <a:solidFill>
              <a:srgbClr val="A8D5C5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7200" y="3081528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5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18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3374136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data · Alerts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· Port 5432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816352" y="3017520"/>
            <a:ext cx="1691640" cy="1143000"/>
          </a:xfrm>
          <a:prstGeom prst="rect">
            <a:avLst/>
          </a:prstGeom>
          <a:solidFill>
            <a:srgbClr val="E8F7F2"/>
          </a:solidFill>
          <a:ln w="12700">
            <a:solidFill>
              <a:srgbClr val="A8D5C5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816352" y="3081528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5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816352" y="3374136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 · 254 entries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all-MiniLM-L6-v2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166360" y="3017520"/>
            <a:ext cx="1691640" cy="1143000"/>
          </a:xfrm>
          <a:prstGeom prst="rect">
            <a:avLst/>
          </a:prstGeom>
          <a:solidFill>
            <a:srgbClr val="E8F7F2"/>
          </a:solidFill>
          <a:ln w="12700">
            <a:solidFill>
              <a:srgbClr val="A8D5C5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166360" y="3081528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5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FCM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166360" y="3374136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alerts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406640" y="3017520"/>
            <a:ext cx="1691640" cy="1143000"/>
          </a:xfrm>
          <a:prstGeom prst="rect">
            <a:avLst/>
          </a:prstGeom>
          <a:solidFill>
            <a:srgbClr val="E8F7F2"/>
          </a:solidFill>
          <a:ln w="12700">
            <a:solidFill>
              <a:srgbClr val="A8D5C5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406640" y="3081528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5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406640" y="3374136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Haar cascade · LAB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Facial wellness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57200" y="461772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local - no cloud dependency - patient data never leaves the machine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502920" cy="6400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D5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Risk Prediction Engine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828800" cy="1143000"/>
          </a:xfrm>
          <a:prstGeom prst="rect">
            <a:avLst/>
          </a:prstGeom>
          <a:solidFill>
            <a:srgbClr val="1D9E75"/>
          </a:solidFill>
          <a:ln w="12700">
            <a:solidFill>
              <a:srgbClr val="0D5C44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380744"/>
            <a:ext cx="182880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1828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23160" y="1325880"/>
            <a:ext cx="1828800" cy="1143000"/>
          </a:xfrm>
          <a:prstGeom prst="rect">
            <a:avLst/>
          </a:prstGeom>
          <a:solidFill>
            <a:srgbClr val="1D9E75"/>
          </a:solidFill>
          <a:ln w="12700">
            <a:solidFill>
              <a:srgbClr val="0D5C44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423160" y="1380744"/>
            <a:ext cx="182880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743K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2423160" y="2011680"/>
            <a:ext cx="1828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Records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9120" y="1325880"/>
            <a:ext cx="1828800" cy="1143000"/>
          </a:xfrm>
          <a:prstGeom prst="rect">
            <a:avLst/>
          </a:prstGeom>
          <a:solidFill>
            <a:srgbClr val="1D9E75"/>
          </a:solidFill>
          <a:ln w="12700">
            <a:solidFill>
              <a:srgbClr val="0D5C44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389120" y="1380744"/>
            <a:ext cx="182880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389120" y="2011680"/>
            <a:ext cx="1828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355080" y="1325880"/>
            <a:ext cx="1828800" cy="1143000"/>
          </a:xfrm>
          <a:prstGeom prst="rect">
            <a:avLst/>
          </a:prstGeom>
          <a:solidFill>
            <a:srgbClr val="1D9E75"/>
          </a:solidFill>
          <a:ln w="12700">
            <a:solidFill>
              <a:srgbClr val="0D5C44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355080" y="1380744"/>
            <a:ext cx="182880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355080" y="2011680"/>
            <a:ext cx="182880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Trees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697480"/>
            <a:ext cx="4023360" cy="5486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280720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5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Pipeline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320040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SimpleImputer (median) → StandardScaler → RandomForestClassifier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risk_level (High / Medium / Low) + confidence + top_risk_factors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2697480"/>
            <a:ext cx="4023360" cy="5486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54880" y="280720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5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Random Forest?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754880" y="3200400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Tabular data - RF beats neural nets on structured CSV features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Explainable - shows top factors per prediction to the doctor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CPU-only - no GPU, instant inference on local hardware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461772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predictive feature: Coughing of Blood (12.8% importance)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502920" cy="6400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D5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Results — Confusion Matrix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set: 148,746 patients (20% holdout)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034540" y="1237343"/>
            <a:ext cx="5074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 rot="16200000">
            <a:off x="6858" y="1314450"/>
            <a:ext cx="66294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153413" y="1518138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1690939"/>
            <a:ext cx="1234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726180" y="1515009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2559619"/>
            <a:ext cx="1234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75887" y="1491791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3428299"/>
            <a:ext cx="1234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148840" y="1731570"/>
            <a:ext cx="1691640" cy="868680"/>
          </a:xfrm>
          <a:prstGeom prst="rect">
            <a:avLst/>
          </a:prstGeom>
          <a:solidFill>
            <a:srgbClr val="1D9E75"/>
          </a:solidFill>
          <a:ln w="12700">
            <a:solidFill>
              <a:srgbClr val="C5E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148840" y="1690939"/>
            <a:ext cx="1691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49,929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830969" y="1735958"/>
            <a:ext cx="1691640" cy="868680"/>
          </a:xfrm>
          <a:prstGeom prst="rect">
            <a:avLst/>
          </a:prstGeom>
          <a:solidFill>
            <a:srgbClr val="E8F7F2"/>
          </a:solidFill>
          <a:ln w="12700">
            <a:solidFill>
              <a:srgbClr val="C5E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840480" y="1690939"/>
            <a:ext cx="1691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1,815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532120" y="1725580"/>
            <a:ext cx="1691640" cy="868680"/>
          </a:xfrm>
          <a:prstGeom prst="rect">
            <a:avLst/>
          </a:prstGeom>
          <a:solidFill>
            <a:srgbClr val="E8F7F2"/>
          </a:solidFill>
          <a:ln w="12700">
            <a:solidFill>
              <a:srgbClr val="C5E0D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532120" y="1690939"/>
            <a:ext cx="1691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2,004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2148840" y="2559619"/>
            <a:ext cx="1691640" cy="868680"/>
          </a:xfrm>
          <a:prstGeom prst="rect">
            <a:avLst/>
          </a:prstGeom>
          <a:solidFill>
            <a:srgbClr val="E8F7F2"/>
          </a:solidFill>
          <a:ln w="12700">
            <a:solidFill>
              <a:srgbClr val="C5E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148840" y="2559619"/>
            <a:ext cx="1691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2,223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3845053" y="2594260"/>
            <a:ext cx="1691640" cy="868680"/>
          </a:xfrm>
          <a:prstGeom prst="rect">
            <a:avLst/>
          </a:prstGeom>
          <a:solidFill>
            <a:srgbClr val="1D9E75"/>
          </a:solidFill>
          <a:ln w="12700">
            <a:solidFill>
              <a:srgbClr val="C5E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840480" y="2559619"/>
            <a:ext cx="1691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41,371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5532120" y="2604638"/>
            <a:ext cx="1691640" cy="868680"/>
          </a:xfrm>
          <a:prstGeom prst="rect">
            <a:avLst/>
          </a:prstGeom>
          <a:solidFill>
            <a:srgbClr val="E8F7F2"/>
          </a:solidFill>
          <a:ln w="12700">
            <a:solidFill>
              <a:srgbClr val="C5E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532120" y="2559619"/>
            <a:ext cx="1691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1,966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2148840" y="3428299"/>
            <a:ext cx="1691640" cy="868680"/>
          </a:xfrm>
          <a:prstGeom prst="rect">
            <a:avLst/>
          </a:prstGeom>
          <a:solidFill>
            <a:srgbClr val="E8F7F2"/>
          </a:solidFill>
          <a:ln w="12700">
            <a:solidFill>
              <a:srgbClr val="C5E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148840" y="3428299"/>
            <a:ext cx="1691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2,094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3840480" y="3428299"/>
            <a:ext cx="1691640" cy="868680"/>
          </a:xfrm>
          <a:prstGeom prst="rect">
            <a:avLst/>
          </a:prstGeom>
          <a:solidFill>
            <a:srgbClr val="E8F7F2"/>
          </a:solidFill>
          <a:ln w="12700">
            <a:solidFill>
              <a:srgbClr val="C5E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840480" y="3428299"/>
            <a:ext cx="1691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1,782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5532120" y="3428299"/>
            <a:ext cx="1691640" cy="868680"/>
          </a:xfrm>
          <a:prstGeom prst="rect">
            <a:avLst/>
          </a:prstGeom>
          <a:solidFill>
            <a:srgbClr val="1D9E75"/>
          </a:solidFill>
          <a:ln w="12700">
            <a:solidFill>
              <a:srgbClr val="C5E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532120" y="3428299"/>
            <a:ext cx="1691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45,562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457200" y="446087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diagonal dominance — the model correctly classifies all three risk levels with minimal cross-class confusion.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502920" cy="6400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D5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Facial Wellness Analyzer (FR27)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023360" cy="5486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43560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5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Basis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Forte et al. (2021), Frontiers in Medicine, DOI: 10.3389/fmed.2021.661309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that pallor, eye droopiness, and skin tone changes are clinically measurable illness indicators.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834640"/>
            <a:ext cx="4023360" cy="5486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294436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5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OpenCV (not CNN)?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337560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Lightweight - CPU only, 15–40ms per frame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Explainable - doctor sees exact feature scores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Privacy - no patient images stored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Appropriate for GP2 - no labeled illness dataset exists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325880"/>
            <a:ext cx="4023360" cy="5486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54880" y="14173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5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Pallor Score   (40%)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0" y="1691640"/>
            <a:ext cx="4023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A-channel mean. Healthy skin = redness. Sick skin = low A-channel.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2240280"/>
            <a:ext cx="4023360" cy="5486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54880" y="23317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5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 Fatigue    (35%)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0" y="2585466"/>
            <a:ext cx="4023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Haar cascade eye detection. Droopy lid height/width ratio.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3154680"/>
            <a:ext cx="4023360" cy="5486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754880" y="32461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5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 Uniformity (15%)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54880" y="3479292"/>
            <a:ext cx="4023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L-channel std deviation. Blotchiness = illness indicator.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4069080"/>
            <a:ext cx="4023360" cy="5486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54880" y="41605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5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 Dullness   (10%)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54880" y="4421124"/>
            <a:ext cx="4023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L-channel mean. Low brightness = dull, fatigued appearance.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773168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0–29 → Appears Well   |   30–54 → Mild Fatigue   |   55+ → Appears Unwell → Doctor Alert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502920" cy="6400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D5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Chatbot Health Assistant (FR28)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Mistral-7B + ChromaDB + patient history - running fully locally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02920" cy="50292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78992" y="1453896"/>
            <a:ext cx="7680960" cy="457200"/>
          </a:xfrm>
          <a:prstGeom prst="rect">
            <a:avLst/>
          </a:prstGeom>
          <a:solidFill>
            <a:srgbClr val="E8F7F2"/>
          </a:solidFill>
          <a:ln w="12700">
            <a:solidFill>
              <a:srgbClr val="A8D5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207008" y="146304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5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Guardrail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07008" y="1664208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/ medication phrases → hardcoded safe response. LLM is never called.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121408"/>
            <a:ext cx="502920" cy="502920"/>
          </a:xfrm>
          <a:prstGeom prst="rect">
            <a:avLst/>
          </a:prstGeom>
          <a:solidFill>
            <a:srgbClr val="0D5C44"/>
          </a:solidFill>
          <a:ln w="12700">
            <a:solidFill>
              <a:srgbClr val="0D5C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21214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78992" y="2157984"/>
            <a:ext cx="7680960" cy="457200"/>
          </a:xfrm>
          <a:prstGeom prst="rect">
            <a:avLst/>
          </a:prstGeom>
          <a:solidFill>
            <a:srgbClr val="E8F7F2"/>
          </a:solidFill>
          <a:ln w="12700">
            <a:solidFill>
              <a:srgbClr val="A8D5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207008" y="216712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5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Context (Structured)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207008" y="2368296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PostgreSQL: risk level, symptom values, 7-day lifestyle averages injected into every prompt.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825496"/>
            <a:ext cx="502920" cy="50292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282549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078992" y="2862072"/>
            <a:ext cx="7680960" cy="457200"/>
          </a:xfrm>
          <a:prstGeom prst="rect">
            <a:avLst/>
          </a:prstGeom>
          <a:solidFill>
            <a:srgbClr val="E8F7F2"/>
          </a:solidFill>
          <a:ln w="12700">
            <a:solidFill>
              <a:srgbClr val="A8D5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207008" y="287121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5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Retrieval (ChromaDB)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207008" y="3072384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254 entries from NCI / ACS PDFs + FAQs. Over-fetch 3×, re-rank by patient feedback weights.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529584"/>
            <a:ext cx="502920" cy="502920"/>
          </a:xfrm>
          <a:prstGeom prst="rect">
            <a:avLst/>
          </a:prstGeom>
          <a:solidFill>
            <a:srgbClr val="0D5C44"/>
          </a:solidFill>
          <a:ln w="12700">
            <a:solidFill>
              <a:srgbClr val="0D5C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352958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078992" y="3566160"/>
            <a:ext cx="7680960" cy="457200"/>
          </a:xfrm>
          <a:prstGeom prst="rect">
            <a:avLst/>
          </a:prstGeom>
          <a:solidFill>
            <a:srgbClr val="E8F7F2"/>
          </a:solidFill>
          <a:ln w="12700">
            <a:solidFill>
              <a:srgbClr val="A8D5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207008" y="357530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5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Mistral-7B LLM (Local)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207008" y="3776472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on localhost:11434. No cloud, no API key. Instruction-tuned, 7B parameters.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4233672"/>
            <a:ext cx="502920" cy="50292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7200" y="42336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078992" y="4270248"/>
            <a:ext cx="7680960" cy="457200"/>
          </a:xfrm>
          <a:prstGeom prst="rect">
            <a:avLst/>
          </a:prstGeom>
          <a:solidFill>
            <a:srgbClr val="E8F7F2"/>
          </a:solidFill>
          <a:ln w="12700">
            <a:solidFill>
              <a:srgbClr val="A8D5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207008" y="427939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5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Loop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207008" y="4480560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Thumbs up → +5% boost. Thumbs down → −10% penalty. Net ≤ −3 → source permanently blocked.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502920" cy="6400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D5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GP2 New Features vs GP1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major additions beyond the GP1 foundation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4864" cy="160020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47218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5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FR25 - Emergency Guidance Screen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783080"/>
            <a:ext cx="3822192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SOS button using url_launcher tel: URI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Symptom-specific guidance cards (breathing, bleeding, pain)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fully offline - no network needed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09160" y="1417320"/>
            <a:ext cx="54864" cy="160020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46320" y="147218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5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FR27 - Facial Wellness Analyzer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46320" y="1783080"/>
            <a:ext cx="3822192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Haar cascade + LAB color space analysis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video, and real-time frame modes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Forte et al. 2021, Frontiers in Medicine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200400"/>
            <a:ext cx="54864" cy="1645920"/>
          </a:xfrm>
          <a:prstGeom prst="rect">
            <a:avLst/>
          </a:prstGeom>
          <a:solidFill>
            <a:srgbClr val="0D5C44"/>
          </a:solidFill>
          <a:ln w="12700">
            <a:solidFill>
              <a:srgbClr val="0D5C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94360" y="325526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5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FR28 - RAG Chatbot + Local LLM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" y="3566160"/>
            <a:ext cx="3822192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Mistral-7B via Ollama (local, no cloud dependency)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with 254 medical knowledge entries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Feedback-weighted retrieval + voice input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09160" y="3200400"/>
            <a:ext cx="54864" cy="164592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46320" y="325526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5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FR26 - ML Feedback System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46320" y="3566160"/>
            <a:ext cx="3822192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Doctor: Correct / Incorrect buttons per ML prediction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saved and used for future model improvement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analytics: top-rated sources, blocked sources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502920" cy="6400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D5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Requirements Status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828800" cy="1005840"/>
          </a:xfrm>
          <a:prstGeom prst="rect">
            <a:avLst/>
          </a:prstGeom>
          <a:solidFill>
            <a:srgbClr val="1D9E75"/>
          </a:solidFill>
          <a:ln w="12700">
            <a:solidFill>
              <a:srgbClr val="0D5C44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380744"/>
            <a:ext cx="1828800" cy="5833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929384"/>
            <a:ext cx="18288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23160" y="1325880"/>
            <a:ext cx="1828800" cy="1005840"/>
          </a:xfrm>
          <a:prstGeom prst="rect">
            <a:avLst/>
          </a:prstGeom>
          <a:solidFill>
            <a:srgbClr val="1D9E75"/>
          </a:solidFill>
          <a:ln w="12700">
            <a:solidFill>
              <a:srgbClr val="0D5C44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423160" y="1380744"/>
            <a:ext cx="1828800" cy="5833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2423160" y="1929384"/>
            <a:ext cx="18288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9120" y="1325880"/>
            <a:ext cx="1828800" cy="1005840"/>
          </a:xfrm>
          <a:prstGeom prst="rect">
            <a:avLst/>
          </a:prstGeom>
          <a:solidFill>
            <a:srgbClr val="1D9E75"/>
          </a:solidFill>
          <a:ln w="12700">
            <a:solidFill>
              <a:srgbClr val="0D5C44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389120" y="1380744"/>
            <a:ext cx="1828800" cy="5833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389120" y="1929384"/>
            <a:ext cx="18288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GP2 New FRs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355080" y="1325880"/>
            <a:ext cx="1828800" cy="1005840"/>
          </a:xfrm>
          <a:prstGeom prst="rect">
            <a:avLst/>
          </a:prstGeom>
          <a:solidFill>
            <a:srgbClr val="1D9E75"/>
          </a:solidFill>
          <a:ln w="12700">
            <a:solidFill>
              <a:srgbClr val="0D5C44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355080" y="1380744"/>
            <a:ext cx="1828800" cy="5833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355080" y="1929384"/>
            <a:ext cx="18288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GP1 Score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2514600"/>
            <a:ext cx="83210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FR1-6  </a:t>
            </a: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Registration, login, symptom and lifestyle logging
</a:t>
            </a:r>
            <a:r>
              <a:rPr lang="en-US" sz="12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FR8-12 </a:t>
            </a: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validation, ML prediction, alerts, Firebase push notifications
</a:t>
            </a:r>
            <a:r>
              <a:rPr lang="en-US" sz="12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FR13-24 </a:t>
            </a: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Recommendations, lifestyle review, doctor triage, admin panel, reports, charts
</a:t>
            </a:r>
            <a:r>
              <a:rPr lang="en-US" sz="12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FR25  </a:t>
            </a: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guidance screen with one-tap calling  (GP2 new)
</a:t>
            </a:r>
            <a:r>
              <a:rPr lang="en-US" sz="12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FR26  </a:t>
            </a: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ML feedback system  (GP2 new)
</a:t>
            </a:r>
            <a:r>
              <a:rPr lang="en-US" sz="12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FR27  </a:t>
            </a: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Facial wellness analyzer (photo / video / real-time)  (GP2 new)
</a:t>
            </a:r>
            <a:r>
              <a:rPr lang="en-US" sz="12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FR28  </a:t>
            </a: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chatbot with Mistral-7B local LLM  (GP2 new)
</a:t>
            </a:r>
            <a:r>
              <a:rPr lang="en-US" sz="12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FR7   </a:t>
            </a:r>
            <a:r>
              <a:rPr lang="en-US" sz="1200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 integration - deferred, hardware dependency, documented as out of scope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502920" cy="6400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D5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Stack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023360" cy="5486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5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Development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13232" y="182880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5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3.41 / Dart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148840" y="1828800"/>
            <a:ext cx="2304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 app, 13 screens, Samsung S918B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267712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13232" y="2267712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5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fl_chart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48840" y="2267712"/>
            <a:ext cx="2304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 trend dashboard visualizations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706624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13232" y="2706624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5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image_picker / url_launcher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148840" y="2706624"/>
            <a:ext cx="2304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+ emergency one-tap calling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1325880"/>
            <a:ext cx="4023360" cy="5486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54880" y="141732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5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Database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754880" y="1828800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10912" y="182880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5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Uvicorn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46520" y="1828800"/>
            <a:ext cx="2304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on port 8002, async endpoints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0" y="2267712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10912" y="2267712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5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18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46520" y="2267712"/>
            <a:ext cx="2304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data, alerts, feedback tables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54880" y="2706624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10912" y="2706624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5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ORM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46520" y="2706624"/>
            <a:ext cx="2304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abstraction and query layer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3200400"/>
            <a:ext cx="4023360" cy="5486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57200" y="32918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5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&amp; AI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7200" y="3703320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13232" y="370332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5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RandomForest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148840" y="3703320"/>
            <a:ext cx="2304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 accuracy, 743K records, 23 features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4142232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13232" y="4142232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5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148840" y="4142232"/>
            <a:ext cx="2304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Haar cascade + LAB color facial wellness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4581144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13232" y="4581144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5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Mistral-7B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148840" y="4581144"/>
            <a:ext cx="2304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LLM, no cloud, instruction-tuned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754880" y="3200400"/>
            <a:ext cx="4023360" cy="5486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754880" y="32918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5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&amp; Knowledge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4754880" y="3703320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010912" y="370332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5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446520" y="3703320"/>
            <a:ext cx="2304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vector store, 254 knowledge entries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754880" y="4142232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010912" y="4142232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5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all-MiniLM-L6-v2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446520" y="4142232"/>
            <a:ext cx="2304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384-dim embeddings, 90MB, fast &amp; accurate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754880" y="4581144"/>
            <a:ext cx="274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010912" y="4581144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5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pypdf + NCI/ACS PDFs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446520" y="4581144"/>
            <a:ext cx="2304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clinical cancer care knowledge base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502920" cy="6400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D5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Evaluation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828800" cy="1005840"/>
          </a:xfrm>
          <a:prstGeom prst="rect">
            <a:avLst/>
          </a:prstGeom>
          <a:solidFill>
            <a:srgbClr val="1D9E75"/>
          </a:solidFill>
          <a:ln w="12700">
            <a:solidFill>
              <a:srgbClr val="0D5C44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380744"/>
            <a:ext cx="1828800" cy="5833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929384"/>
            <a:ext cx="18288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 Run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23160" y="1325880"/>
            <a:ext cx="1828800" cy="1005840"/>
          </a:xfrm>
          <a:prstGeom prst="rect">
            <a:avLst/>
          </a:prstGeom>
          <a:solidFill>
            <a:srgbClr val="1D9E75"/>
          </a:solidFill>
          <a:ln w="12700">
            <a:solidFill>
              <a:srgbClr val="0D5C44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423160" y="1380744"/>
            <a:ext cx="1828800" cy="5833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2423160" y="1929384"/>
            <a:ext cx="18288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9120" y="1325880"/>
            <a:ext cx="1828800" cy="1005840"/>
          </a:xfrm>
          <a:prstGeom prst="rect">
            <a:avLst/>
          </a:prstGeom>
          <a:solidFill>
            <a:srgbClr val="1D9E75"/>
          </a:solidFill>
          <a:ln w="12700">
            <a:solidFill>
              <a:srgbClr val="0D5C44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389120" y="1380744"/>
            <a:ext cx="1828800" cy="5833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389120" y="1929384"/>
            <a:ext cx="18288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Detection Rate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355080" y="1325880"/>
            <a:ext cx="1828800" cy="1005840"/>
          </a:xfrm>
          <a:prstGeom prst="rect">
            <a:avLst/>
          </a:prstGeom>
          <a:solidFill>
            <a:srgbClr val="1D9E75"/>
          </a:solidFill>
          <a:ln w="12700">
            <a:solidFill>
              <a:srgbClr val="0D5C44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355080" y="1380744"/>
            <a:ext cx="1828800" cy="5833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87%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355080" y="1929384"/>
            <a:ext cx="18288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Relevance Rate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514600"/>
            <a:ext cx="4023360" cy="5486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262432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5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Tests Passed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3017520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Emergency guardrail: 12/12 phrases blocked from LLM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3364992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Medication guardrail: education questions pass, advice blocked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3712464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EXIF rotation fix: 12/12 rotated phone photos corrected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059936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ML prediction: High risk → doctor alert created correctly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407408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RAG returns clinically relevant context in 87% of queries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2514600"/>
            <a:ext cx="4023360" cy="5486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754880" y="262432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5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Limitations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754880" y="3017520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Passwords stored as plaintext (bcrypt: 30 min migration)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54880" y="3364992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No JWT authentication yet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54880" y="3712464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Voice input is Chrome / Edge only (Web Speech API)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54880" y="4059936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Firebase push requires real server key in production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754880" y="4407408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Chatbot feedback quality lift requires scale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0040"/>
            <a:ext cx="502920" cy="6400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>
                <a:solidFill>
                  <a:srgbClr val="A8D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Disclaimer: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11480" y="10058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provides</a:t>
            </a:r>
            <a:endParaRPr lang="en-US" sz="3400"/>
          </a:p>
          <a:p>
            <a:pPr marL="0" indent="0">
              <a:buNone/>
            </a:pPr>
            <a:r>
              <a:rPr lang="en-US" sz="3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support only</a:t>
            </a:r>
            <a:endParaRPr lang="en-US" sz="3400"/>
          </a:p>
          <a:p>
            <a:pPr marL="0" indent="0">
              <a:buNone/>
            </a:pPr>
            <a:r>
              <a:rPr lang="en-US" sz="3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does not replace</a:t>
            </a:r>
            <a:endParaRPr lang="en-US" sz="3400"/>
          </a:p>
          <a:p>
            <a:pPr marL="0" indent="0">
              <a:buNone/>
            </a:pPr>
            <a:r>
              <a:rPr lang="en-US" sz="3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diagnosis or</a:t>
            </a:r>
            <a:endParaRPr lang="en-US" sz="3400"/>
          </a:p>
          <a:p>
            <a:pPr marL="0" indent="0">
              <a:buNone/>
            </a:pPr>
            <a:r>
              <a:rPr lang="en-US" sz="3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clinician judgment.</a:t>
            </a:r>
            <a:endParaRPr lang="en-US" sz="34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0C199F0-F067-C4FA-792A-9B49FCADB614}"/>
              </a:ext>
            </a:extLst>
          </p:cNvPr>
          <p:cNvSpPr/>
          <p:nvPr/>
        </p:nvSpPr>
        <p:spPr>
          <a:xfrm>
            <a:off x="5999259" y="1428750"/>
            <a:ext cx="2170706" cy="2286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FC36927-9599-6D61-752D-E2F21C67FE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7737" y="904875"/>
            <a:ext cx="3333750" cy="33337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92608"/>
            <a:ext cx="502920" cy="6400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D5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023360" cy="5486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43560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5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Aoun Delivers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 accuracy ML risk prediction on 743,728 patients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21284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Facial wellness detection grounded in Forte et al. 2021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596896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LLM chatbot with RAG and patient-history grounding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980944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guidance with one-tap calling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36499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triage, ML feedback, admin management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7490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of 28 in-scope FRs implemented and tested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325880"/>
            <a:ext cx="4023360" cy="5486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54880" y="143560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5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54880" y="18288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password hashing (30 min migration)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0" y="221284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 tokens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0" y="2596896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FR7: Wearable integration (flutter_health plugin)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4880" y="2980944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language chatbot support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0" y="336499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validation study with hospital partner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0" y="37490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retraining using accumulated doctor feedback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0" y="413308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WebRTC video wellness streaming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526280"/>
            <a:ext cx="8321040" cy="41148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" y="4526280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Aoun is a production-ready, locally hosted, privacy-preserving cancer monitoring platform - not a prototype.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A2E3B"/>
          </a:solidFill>
          <a:ln w="12700">
            <a:solidFill>
              <a:srgbClr val="1A2E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11480" y="502920"/>
            <a:ext cx="64008" cy="146304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0D5C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Demo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Patient login → symptom log → risk result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761488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Face wellness selfie scan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3145536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Chatbot with patient data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529584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Doctor triage list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913632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Admin dashboard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126480" y="64008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A8D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080760" y="896112"/>
            <a:ext cx="2926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Mohammad Thaher (202311828)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Mohammad Haji (202211392)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Hussameddin Alrantisi (202412438)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126480" y="201168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A8D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by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126480" y="228600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Hassan Altarawneh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26480" y="429768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D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Science Private University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A8D5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1605</Words>
  <Application>Microsoft Office PowerPoint</Application>
  <PresentationFormat>On-screen Show (16:9)</PresentationFormat>
  <Paragraphs>296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Mohammad Thaher</dc:creator>
  <cp:lastModifiedBy>Mohammad Thaher</cp:lastModifiedBy>
  <cp:revision>346</cp:revision>
  <dcterms:created xsi:type="dcterms:W3CDTF">2026-05-01T23:17:52Z</dcterms:created>
  <dcterms:modified xsi:type="dcterms:W3CDTF">2026-05-12T22:17:49Z</dcterms:modified>
</cp:coreProperties>
</file>