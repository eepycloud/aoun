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594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502920"/>
            <a:ext cx="64008" cy="1463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Aoun  عون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Cancer Patient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Aoun (</a:t>
            </a:r>
            <a:r>
              <a:rPr lang="en-US" sz="1400" i="1" dirty="0" err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عون</a:t>
            </a:r>
            <a:r>
              <a:rPr lang="en-US" sz="14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12573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80760" y="14173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Thaher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2377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2880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3154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provides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only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does not replace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 or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judgment.</a:t>
            </a:r>
            <a:endParaRPr lang="en-US" sz="3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C199F0-F067-C4FA-792A-9B49FCADB614}"/>
              </a:ext>
            </a:extLst>
          </p:cNvPr>
          <p:cNvSpPr/>
          <p:nvPr/>
        </p:nvSpPr>
        <p:spPr>
          <a:xfrm>
            <a:off x="5999259" y="1428750"/>
            <a:ext cx="2170706" cy="228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C36927-9599-6D61-752D-E2F21C67F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737" y="904875"/>
            <a:ext cx="3333750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Burden of Cancer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20M+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cancer cases in 2022  (WHO / Globocan)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9.7M+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cancer-related deaths in 2022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420624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15270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Global Incidence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9202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aging populations, urbanization, and lifestyle changes like tobacco use and unhealthy diets.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606040"/>
            <a:ext cx="420624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27157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 Strain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Overwhelmed by growing numbers of patients requiring long-term monitoring and diagnostic services.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3794760"/>
            <a:ext cx="420624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39044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Monitoring Gap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42976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visits fail to capture daily symptom variations, leading to delayed medical interventions.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Current Systems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 and simple checklists fail to capture daily nuances.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continuous real-time tracking between appointments.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37560" y="1554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Gap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37560" y="205740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machine learning to analyze symptoms or predict complications.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30632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early warning for critical health changes.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554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0" y="205740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tools not tailored to cancer type, stage, or patient history.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30632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visualization makes it hard for doctors to track progress.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Aoun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" cy="1463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721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Data Collection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3913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symptom logging (21 indicators), lifestyle tracking (sleep, water, exercise, diet) through a simple mobile interface.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54864" cy="1463040"/>
          </a:xfrm>
          <a:prstGeom prst="rect">
            <a:avLst/>
          </a:prstGeom>
          <a:solidFill>
            <a:srgbClr val="0D5C44"/>
          </a:solidFill>
          <a:ln w="12700">
            <a:solidFill>
              <a:srgbClr val="0D5C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4721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783080"/>
            <a:ext cx="3913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trained on 743,728 patients — classifies risk as High, Medium, or Low with 92% accuracy.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54864" cy="1463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1638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74720"/>
            <a:ext cx="3913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real-time alerts sent to the patient's oncologist when High risk is detected, via Firebase push notification.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54864" cy="1463040"/>
          </a:xfrm>
          <a:prstGeom prst="rect">
            <a:avLst/>
          </a:prstGeom>
          <a:solidFill>
            <a:srgbClr val="0D5C44"/>
          </a:solidFill>
          <a:ln w="12700">
            <a:solidFill>
              <a:srgbClr val="0D5C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31638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474720"/>
            <a:ext cx="3913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guidance (sleep, hydration, exercise, diet) generated from the patient's own symptom and lifestyle data.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011680" cy="1417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· Doctor · Admin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screens · Samsung S918B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87168" y="196596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97480" y="1325880"/>
            <a:ext cx="2011680" cy="1417320"/>
          </a:xfrm>
          <a:prstGeom prst="rect">
            <a:avLst/>
          </a:prstGeom>
          <a:solidFill>
            <a:srgbClr val="0D5C44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97480" y="1389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175564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Port 8002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27448" y="196596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1325880"/>
            <a:ext cx="2011680" cy="1417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389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75564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Port 8001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Accuracy · 23 Features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67728" y="196596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78040" y="1325880"/>
            <a:ext cx="2011680" cy="1417320"/>
          </a:xfrm>
          <a:prstGeom prst="rect">
            <a:avLst/>
          </a:prstGeom>
          <a:solidFill>
            <a:srgbClr val="0D5C44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78040" y="1389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Mistral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78040" y="175564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· Port 11434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· No API key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1691640" cy="11430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08152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374136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· Alerts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· Port 5432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16352" y="3017520"/>
            <a:ext cx="1691640" cy="11430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16352" y="308152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16352" y="3374136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· 254 entries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66360" y="3017520"/>
            <a:ext cx="1691640" cy="11430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66360" y="308152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3374136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alerts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3017520"/>
            <a:ext cx="1691640" cy="11430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06640" y="308152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06640" y="3374136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· LAB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wellness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6177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— no cloud dependency — patient data never leaves the machine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 Prediction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28800" cy="114300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80744"/>
            <a:ext cx="18288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325880"/>
            <a:ext cx="1828800" cy="114300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1380744"/>
            <a:ext cx="18288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743K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2011680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1828800" cy="114300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1380744"/>
            <a:ext cx="18288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89120" y="2011680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1325880"/>
            <a:ext cx="1828800" cy="114300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380744"/>
            <a:ext cx="18288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Trees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8072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SimpleImputer (median) → StandardScaler → RandomForestClassifier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risk_level (High / Medium / Low) + confidence + top_risk_factors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6974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28072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2004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Tabular data — RF beats neural nets on structured CSV features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Explainable — shows top factors per prediction to the doctor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CPU-only — no GPU, instant inference on local hardware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feature: Coughing of Blood (12.8% importance)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1717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Results — Confusion Matrix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148,746 patients (20% holdout)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765810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 rot="16200000">
            <a:off x="109728" y="1417320"/>
            <a:ext cx="4572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16586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11880" y="120570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19329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1417320"/>
            <a:ext cx="1691640" cy="868680"/>
          </a:xfrm>
          <a:prstGeom prst="rect">
            <a:avLst/>
          </a:prstGeom>
          <a:solidFill>
            <a:srgbClr val="1D9E75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20240" y="14173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49,929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11880" y="1417320"/>
            <a:ext cx="1691640" cy="86868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11880" y="14173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1,815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303520" y="1417320"/>
            <a:ext cx="1691640" cy="86868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0" y="14173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920240" y="2286000"/>
            <a:ext cx="1691640" cy="86868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920240" y="228600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2,223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611880" y="2286000"/>
            <a:ext cx="1691640" cy="868680"/>
          </a:xfrm>
          <a:prstGeom prst="rect">
            <a:avLst/>
          </a:prstGeom>
          <a:solidFill>
            <a:srgbClr val="1D9E75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11880" y="228600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41,371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303520" y="2286000"/>
            <a:ext cx="1691640" cy="86868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0" y="228600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1,966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920240" y="3154680"/>
            <a:ext cx="1691640" cy="86868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920240" y="315468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2,094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611880" y="3154680"/>
            <a:ext cx="1691640" cy="86868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11880" y="315468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1,782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303520" y="3154680"/>
            <a:ext cx="1691640" cy="868680"/>
          </a:xfrm>
          <a:prstGeom prst="rect">
            <a:avLst/>
          </a:prstGeom>
          <a:solidFill>
            <a:srgbClr val="1D9E75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0" y="315468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45,562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" y="41605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diagonal dominance — the model correctly classifies all three risk levels with minimal cross-class confusion.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Wellness Analyzer (FR27)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Basis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et al. (2021), Frontiers in Medicine, DOI: 10.3389/fmed.2021.661309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that pallor, eye droopiness, and skin tone changes are clinically measurable illness indicators.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OpenCV (not CNN)?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Lightweight — CPU only, 15–40ms per frame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Explainable — doctor sees exact feature scores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Privacy — no patient images stored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Appropriate for GP2 — no labeled illness dataset exists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Pallor Score   (40%)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70992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A-channel mean. Healthy skin = redness. Sick skin = low A-channel.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Fatigue    (35%)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62432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eye detection. Droopy lid height/width ratio.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1546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3246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Uniformity (15%)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53872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L-channel std deviation. Blotchiness = illness indicator.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40690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4160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Dullness   (10%)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445312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L-channel mean. Low brightness = dull, fatigued appearance.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0–29 → Appears Well   |   30–54 → Mild Fatigue   |   55+ → Appears Unwell → Doctor Alert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 Health Assistant (FR28)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+ ChromaDB + patient history — running fully locally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78992" y="1453896"/>
            <a:ext cx="7680960" cy="4572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7008" y="1463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166420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/ medication phrases → hardcoded safe response. LLM is never called.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502920" cy="502920"/>
          </a:xfrm>
          <a:prstGeom prst="rect">
            <a:avLst/>
          </a:prstGeom>
          <a:solidFill>
            <a:srgbClr val="0D5C44"/>
          </a:solidFill>
          <a:ln w="12700">
            <a:solidFill>
              <a:srgbClr val="0D5C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8992" y="2157984"/>
            <a:ext cx="7680960" cy="4572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07008" y="21671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Context (Structured)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236829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risk level, symptom values, 7-day lifestyle averages injected into every prompt.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50292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825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78992" y="2862072"/>
            <a:ext cx="7680960" cy="4572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07008" y="28712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 (ChromaDB)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07008" y="307238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 entries from NCI / ACS PDFs + FAQs. Over-fetch 3×, re-rank by patient feedback weights.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29584"/>
            <a:ext cx="502920" cy="502920"/>
          </a:xfrm>
          <a:prstGeom prst="rect">
            <a:avLst/>
          </a:prstGeom>
          <a:solidFill>
            <a:srgbClr val="0D5C44"/>
          </a:solidFill>
          <a:ln w="12700">
            <a:solidFill>
              <a:srgbClr val="0D5C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78992" y="3566160"/>
            <a:ext cx="7680960" cy="4572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07008" y="35753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LLM (Local)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07008" y="377647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on localhost:11434. No cloud, no API key. Instruction-tuned, 7B parameters.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33672"/>
            <a:ext cx="50292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78992" y="4270248"/>
            <a:ext cx="7680960" cy="4572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07008" y="4279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07008" y="448056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 → +5% boost. Thumbs down → −10% penalty. Net ≤ −3 → source permanently blocked.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GP2 New Features vs GP1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major additions beyond the GP1 foundation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" cy="1600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721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FR25 — Emergency Guidance Screen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8221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 button using url_launcher tel: URI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Symptom-specific guidance cards (breathing, bleeding, pain)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 — no network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54864" cy="1600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4721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FR27 — Facial Wellness Analyzer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783080"/>
            <a:ext cx="38221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Haar cascade + LAB color space analysis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video, and real-time frame modes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Forte et al. 2021, Frontiers in Medicine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54864" cy="1645920"/>
          </a:xfrm>
          <a:prstGeom prst="rect">
            <a:avLst/>
          </a:prstGeom>
          <a:solidFill>
            <a:srgbClr val="0D5C44"/>
          </a:solidFill>
          <a:ln w="12700">
            <a:solidFill>
              <a:srgbClr val="0D5C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2552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FR28 — RAG Chatbot + Local LLM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566160"/>
            <a:ext cx="38221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via Ollama (local, no cloud dependency)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with 254 medical knowledge entries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Feedback-weighted retrieval + voice input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3200400"/>
            <a:ext cx="54864" cy="1645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32552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FR26 — ML Feedback System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566160"/>
            <a:ext cx="38221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Doctor: Correct / Incorrect buttons per ML prediction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saved and used for future model improvement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analytics: top-rated sources, blocked sources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Status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2880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80744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938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325880"/>
            <a:ext cx="182880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1380744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192938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182880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1380744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89120" y="192938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GP2 New FRs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1325880"/>
            <a:ext cx="182880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380744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55080" y="192938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GP1 Score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8321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FR1–6 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symptom and lifestyle logging
</a:t>
            </a: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FR8–12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validation, ML prediction, alerts, Firebase push notifications
</a:t>
            </a: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FR13–24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Recommendations, lifestyle review, doctor triage, admin panel, reports, charts
</a:t>
            </a: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FR25 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guidance screen with one-tap calling  (GP2 new)
</a:t>
            </a: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FR26 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ML feedback system  (GP2 new)
</a:t>
            </a: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FR27 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wellness analyzer (photo / video / real-time)  (GP2 new)
</a:t>
            </a: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FR28 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 with Mistral-7B local LLM  (GP2 new)
</a:t>
            </a: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FR7   </a:t>
            </a:r>
            <a:r>
              <a:rPr lang="en-US" sz="12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 — deferred, hardware dependency, documented as out of scope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Development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3.41 / Dart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48840" y="1828800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app, 13 screens, Samsung S918B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226771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fl_chart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2267712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trend dashboard visualizations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0662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270662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image_picker / url_launcher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48840" y="2706624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emergency one-tap calling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3258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417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10912" y="18288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1828800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on port 8002, async endpoints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26771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10912" y="226771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2267712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data, alerts, feedback tables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70662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10912" y="270662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2706624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abstraction and query layer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291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AI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37033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" y="37033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RandomForest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48840" y="3703320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accuracy, 743K records, 23 features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14223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" y="41422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48840" y="4142232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+ LAB color facial wellness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58114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" y="458114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Mistral-7B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48840" y="4581144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LLM, no cloud, instruction-tuned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20040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3291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Knowledge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54880" y="37033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10912" y="37033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46520" y="3703320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vector store, 254 knowledge entries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0" y="414223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10912" y="41422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46520" y="4142232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embeddings, 90MB, fast &amp; accurate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54880" y="458114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10912" y="458114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+ NCI/ACS PDFs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46520" y="4581144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clinical cancer care knowledge base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2880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80744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938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Run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325880"/>
            <a:ext cx="182880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1380744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192938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182880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1380744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89120" y="192938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1325880"/>
            <a:ext cx="182880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380744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55080" y="192938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Relevance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6243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Tests Passed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Emergency guardrail: 12/12 phrases blocked from LLM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6499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Medication guardrail: education questions pass, advice blocked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71246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EXIF rotation fix: 12/12 rotated phone photos corrected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05993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ML prediction: High risk → doctor alert created correctly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0740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RAG returns clinically relevant context in 87% of queries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51460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26243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Limitations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301752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Passwords stored as plaintext (bcrypt: 30 min migration)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36499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 JWT authentication yet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71246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Voice input is Chrome / Edge only (Web Speech API)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405993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Firebase push requires real server key in production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440740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Chatbot feedback quality lift requires scale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Aoun Delivers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accuracy ML risk prediction on 743,728 patients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wellness detection grounded in Forte et al. 2021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968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chatbot with RAG and patient-history grounding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8094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guidance with one-tap calling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649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triage, ML feedback, admin management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of 28 in-scope FRs implemented and tested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4356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(30 min migration)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2128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tokens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5968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FR7: Wearable integration (flutter_health plugin)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98094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language chatbot support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3649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 study with hospital partner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749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 using accumulated doctor feedback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1330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WebRTC video wellness streaming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8321040" cy="4114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Aoun is a production-ready, locally hosted, privacy-preserving cancer monitoring platform — not a prototype.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1480" y="502920"/>
            <a:ext cx="64008" cy="1463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Demo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Patient login → symptom log → risk result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7614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Face wellness selfie scan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14553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Chatbot with patient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52958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Doctor triage list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9136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Admin dashboard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1536</Words>
  <Application>Microsoft Office PowerPoint</Application>
  <PresentationFormat>On-screen Show (16:9)</PresentationFormat>
  <Paragraphs>277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Aoun — GP2 Supervisor Presentation</dc:title>
  <dc:subject>PptxGenJS Presentation</dc:subject>
  <dc:creator>PptxGenJS</dc:creator>
  <cp:lastModifiedBy>Mohammad Thaher</cp:lastModifiedBy>
  <cp:revision>6</cp:revision>
  <dcterms:created xsi:type="dcterms:W3CDTF">2026-05-01T23:17:52Z</dcterms:created>
  <dcterms:modified xsi:type="dcterms:W3CDTF">2026-05-02T23:14:48Z</dcterms:modified>
</cp:coreProperties>
</file>